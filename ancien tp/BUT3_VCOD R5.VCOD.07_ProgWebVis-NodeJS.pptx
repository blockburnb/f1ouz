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82" r:id="rId1"/>
    <p:sldMasterId id="2147483795" r:id="rId2"/>
  </p:sldMasterIdLst>
  <p:notesMasterIdLst>
    <p:notesMasterId r:id="rId23"/>
  </p:notesMasterIdLst>
  <p:sldIdLst>
    <p:sldId id="256" r:id="rId3"/>
    <p:sldId id="299" r:id="rId4"/>
    <p:sldId id="454" r:id="rId5"/>
    <p:sldId id="913" r:id="rId6"/>
    <p:sldId id="960" r:id="rId7"/>
    <p:sldId id="962" r:id="rId8"/>
    <p:sldId id="963" r:id="rId9"/>
    <p:sldId id="964" r:id="rId10"/>
    <p:sldId id="965" r:id="rId11"/>
    <p:sldId id="966" r:id="rId12"/>
    <p:sldId id="967" r:id="rId13"/>
    <p:sldId id="968" r:id="rId14"/>
    <p:sldId id="969" r:id="rId15"/>
    <p:sldId id="970" r:id="rId16"/>
    <p:sldId id="971" r:id="rId17"/>
    <p:sldId id="976" r:id="rId18"/>
    <p:sldId id="973" r:id="rId19"/>
    <p:sldId id="974" r:id="rId20"/>
    <p:sldId id="972" r:id="rId21"/>
    <p:sldId id="975"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B9"/>
    <a:srgbClr val="F3F3F3"/>
    <a:srgbClr val="A530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428"/>
    <p:restoredTop sz="94137" autoAdjust="0"/>
  </p:normalViewPr>
  <p:slideViewPr>
    <p:cSldViewPr snapToGrid="0">
      <p:cViewPr varScale="1">
        <p:scale>
          <a:sx n="81" d="100"/>
          <a:sy n="81" d="100"/>
        </p:scale>
        <p:origin x="245" y="14"/>
      </p:cViewPr>
      <p:guideLst>
        <p:guide orient="horz" pos="2160"/>
        <p:guide pos="3840"/>
      </p:guideLst>
    </p:cSldViewPr>
  </p:slideViewPr>
  <p:notesTextViewPr>
    <p:cViewPr>
      <p:scale>
        <a:sx n="1" d="1"/>
        <a:sy n="1" d="1"/>
      </p:scale>
      <p:origin x="0" y="0"/>
    </p:cViewPr>
  </p:notesTextViewPr>
  <p:sorterViewPr>
    <p:cViewPr varScale="1">
      <p:scale>
        <a:sx n="1" d="1"/>
        <a:sy n="1" d="1"/>
      </p:scale>
      <p:origin x="0" y="-7740"/>
    </p:cViewPr>
  </p:sorterViewPr>
  <p:notesViewPr>
    <p:cSldViewPr snapToGrid="0">
      <p:cViewPr varScale="1">
        <p:scale>
          <a:sx n="143" d="100"/>
          <a:sy n="143" d="100"/>
        </p:scale>
        <p:origin x="331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C2FA-B261-4B49-81EE-C686A6EA8F73}" type="datetimeFigureOut">
              <a:rPr lang="fr-FR" smtClean="0"/>
              <a:t>27/11/2023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6F0A56-BDF2-465E-8AA3-8568BC5916A2}" type="slidenum">
              <a:rPr lang="fr-FR" smtClean="0"/>
              <a:t>‹N°›</a:t>
            </a:fld>
            <a:endParaRPr lang="fr-FR"/>
          </a:p>
        </p:txBody>
      </p:sp>
    </p:spTree>
    <p:extLst>
      <p:ext uri="{BB962C8B-B14F-4D97-AF65-F5344CB8AC3E}">
        <p14:creationId xmlns:p14="http://schemas.microsoft.com/office/powerpoint/2010/main" val="506444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46F0A56-BDF2-465E-8AA3-8568BC5916A2}" type="slidenum">
              <a:rPr lang="fr-FR" smtClean="0"/>
              <a:t>1</a:t>
            </a:fld>
            <a:endParaRPr lang="fr-FR"/>
          </a:p>
        </p:txBody>
      </p:sp>
    </p:spTree>
    <p:extLst>
      <p:ext uri="{BB962C8B-B14F-4D97-AF65-F5344CB8AC3E}">
        <p14:creationId xmlns:p14="http://schemas.microsoft.com/office/powerpoint/2010/main" val="1881596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Nous avons analysé les changements de l’industrie et nous vous présentons 6 tendances de développement Web pour 2022.</a:t>
            </a:r>
          </a:p>
          <a:p>
            <a:r>
              <a:rPr lang="fr-FR" b="1" dirty="0"/>
              <a:t>1- Progressive Web Apps (PWA)</a:t>
            </a:r>
          </a:p>
          <a:p>
            <a:r>
              <a:rPr lang="fr-FR" dirty="0"/>
              <a:t>Une application Web progressive (PWA) est un type de logiciel d’application construit à l’aide de technologies Web communes telles que HTML et JavaScript. PWA fonctionne sur n’importe quel appareil avec un navigateur normal. La technologie a acquis une popularité pour son potentiel d’offrir une expérience utilisateur de haute qualité. La technologie permet aux développeurs Web combiner les capacités des sites Web et des applications mobiles</a:t>
            </a:r>
          </a:p>
          <a:p>
            <a:r>
              <a:rPr lang="fr-FR" b="1" dirty="0"/>
              <a:t>Les avantages :</a:t>
            </a:r>
          </a:p>
          <a:p>
            <a:pPr>
              <a:buFont typeface="Arial" panose="020B0604020202020204" pitchFamily="34" charset="0"/>
              <a:buChar char="•"/>
            </a:pPr>
            <a:r>
              <a:rPr lang="fr-FR" dirty="0"/>
              <a:t>Créez une expérience utilisateur immersive.</a:t>
            </a:r>
          </a:p>
          <a:p>
            <a:pPr>
              <a:buFont typeface="Arial" panose="020B0604020202020204" pitchFamily="34" charset="0"/>
              <a:buChar char="•"/>
            </a:pPr>
            <a:r>
              <a:rPr lang="fr-FR" dirty="0"/>
              <a:t>Augmenter les taux d’engagement des utilisateurs.</a:t>
            </a:r>
          </a:p>
          <a:p>
            <a:pPr>
              <a:buFont typeface="Arial" panose="020B0604020202020204" pitchFamily="34" charset="0"/>
              <a:buChar char="•"/>
            </a:pPr>
            <a:r>
              <a:rPr lang="fr-FR" dirty="0"/>
              <a:t>Des coûts de développement comparativement faibles.</a:t>
            </a:r>
          </a:p>
          <a:p>
            <a:pPr>
              <a:buFont typeface="Arial" panose="020B0604020202020204" pitchFamily="34" charset="0"/>
              <a:buChar char="•"/>
            </a:pPr>
            <a:r>
              <a:rPr lang="fr-FR" dirty="0"/>
              <a:t>Ne dépens pas des services de distribution d’applications d’</a:t>
            </a:r>
            <a:r>
              <a:rPr lang="fr-FR" dirty="0" err="1"/>
              <a:t>Appstore</a:t>
            </a:r>
            <a:r>
              <a:rPr lang="fr-FR" dirty="0"/>
              <a:t> ou de Play Store.</a:t>
            </a:r>
          </a:p>
          <a:p>
            <a:r>
              <a:rPr lang="fr-FR" b="1" dirty="0"/>
              <a:t>2- </a:t>
            </a:r>
            <a:r>
              <a:rPr lang="fr-FR" b="1" dirty="0" err="1"/>
              <a:t>Accelerated</a:t>
            </a:r>
            <a:r>
              <a:rPr lang="fr-FR" b="1" dirty="0"/>
              <a:t> Mobile Pages (AMP)</a:t>
            </a:r>
          </a:p>
          <a:p>
            <a:r>
              <a:rPr lang="fr-FR" dirty="0"/>
              <a:t>Les pages mobiles accélérées sont une tendance de développement de sites Web en 2022. C’est un projet né de la collaboration entre Google et Twitter pour créer des pages mobiles plus rapides. Les pages optimisées AMP chargent facilement et ainsi se classent mieux que les autres pages Web mobiles sur les moteurs de recherches. Les pages AMP sont chargées environ 2 secondes par rapport aux pages classiques, qui peuvent prendre jusqu’à 22 secondes.</a:t>
            </a:r>
          </a:p>
          <a:p>
            <a:r>
              <a:rPr lang="fr-FR" b="1" dirty="0"/>
              <a:t>Les avantages :</a:t>
            </a:r>
          </a:p>
          <a:p>
            <a:pPr>
              <a:buFont typeface="Arial" panose="020B0604020202020204" pitchFamily="34" charset="0"/>
              <a:buChar char="•"/>
            </a:pPr>
            <a:r>
              <a:rPr lang="fr-FR" dirty="0"/>
              <a:t>Taux de rebond bas.</a:t>
            </a:r>
          </a:p>
          <a:p>
            <a:pPr>
              <a:buFont typeface="Arial" panose="020B0604020202020204" pitchFamily="34" charset="0"/>
              <a:buChar char="•"/>
            </a:pPr>
            <a:r>
              <a:rPr lang="fr-FR" dirty="0"/>
              <a:t>S’ajuste à n’importe quel navigateur.</a:t>
            </a:r>
          </a:p>
          <a:p>
            <a:pPr>
              <a:buFont typeface="Arial" panose="020B0604020202020204" pitchFamily="34" charset="0"/>
              <a:buChar char="•"/>
            </a:pPr>
            <a:r>
              <a:rPr lang="fr-FR" dirty="0"/>
              <a:t>Pas besoin de créer des </a:t>
            </a:r>
            <a:r>
              <a:rPr lang="fr-FR" dirty="0" err="1"/>
              <a:t>sitemaps</a:t>
            </a:r>
            <a:r>
              <a:rPr lang="fr-FR" dirty="0"/>
              <a:t> à envoyer aux moteurs de recherche.</a:t>
            </a:r>
          </a:p>
          <a:p>
            <a:r>
              <a:rPr lang="fr-FR" b="1" dirty="0"/>
              <a:t>3- Single-Page Applications (SPA)</a:t>
            </a:r>
          </a:p>
          <a:p>
            <a:r>
              <a:rPr lang="fr-FR" dirty="0"/>
              <a:t>Le SPA est l’une des technologies de développement Web qui est le plus déployées, contrairement aux applications de site Web conventionnelles, elles contiennent une seule page qui charge initialement la page Web de l’ensemble de la page Web, puis charge le contenu dynamique de la même page. HTML5 et AJAX sont utilisés pour chargent les pages SPA.</a:t>
            </a:r>
            <a:br>
              <a:rPr lang="fr-FR" dirty="0"/>
            </a:br>
            <a:r>
              <a:rPr lang="fr-FR" dirty="0"/>
              <a:t>Les applications que nous utilisons quotidiennement, comme Facebook, Gmail et Twitter sont des spas.</a:t>
            </a:r>
            <a:br>
              <a:rPr lang="fr-FR" dirty="0"/>
            </a:br>
            <a:r>
              <a:rPr lang="fr-FR" dirty="0"/>
              <a:t>Les applications SPA ont plus de possibilité d’attirer l’attention des utilisateurs, car ils semblent fonctionner rapidement avec un retour instantané contrairement aux sites Web classiques, où on doit attendre le chargement de la page.</a:t>
            </a:r>
          </a:p>
          <a:p>
            <a:r>
              <a:rPr lang="fr-FR" b="1" dirty="0"/>
              <a:t>Les avantages :</a:t>
            </a:r>
          </a:p>
          <a:p>
            <a:pPr>
              <a:buFont typeface="Arial" panose="020B0604020202020204" pitchFamily="34" charset="0"/>
              <a:buChar char="•"/>
            </a:pPr>
            <a:r>
              <a:rPr lang="fr-FR" dirty="0"/>
              <a:t>Meilleures optimisation pour le référencement.</a:t>
            </a:r>
          </a:p>
          <a:p>
            <a:pPr>
              <a:buFont typeface="Arial" panose="020B0604020202020204" pitchFamily="34" charset="0"/>
              <a:buChar char="•"/>
            </a:pPr>
            <a:r>
              <a:rPr lang="fr-FR" dirty="0"/>
              <a:t>Mise en œuvre rapide et débogage moins complexes.</a:t>
            </a:r>
          </a:p>
          <a:p>
            <a:pPr>
              <a:buFont typeface="Arial" panose="020B0604020202020204" pitchFamily="34" charset="0"/>
              <a:buChar char="•"/>
            </a:pPr>
            <a:r>
              <a:rPr lang="fr-FR" dirty="0"/>
              <a:t>Charge rapide de la page avec cache et taux de rebond réduit</a:t>
            </a:r>
          </a:p>
          <a:p>
            <a:r>
              <a:rPr lang="fr-FR" b="1" dirty="0"/>
              <a:t>4- JavaScript Framework</a:t>
            </a:r>
          </a:p>
          <a:p>
            <a:r>
              <a:rPr lang="fr-FR" dirty="0"/>
              <a:t>Un Framework JavaScript est un groupe de bibliothèques de code à partir desquels les développeurs peuvent accéder au code pré-écrit pour des tâches de programmation régulières. JavaScript est considéré comme le langage de programmation le plus utilisé dans le monde et les nouvelles tendances du site Web dans les prochaines années verront le développement poussé des Framework JavaScript.</a:t>
            </a:r>
            <a:br>
              <a:rPr lang="fr-FR" dirty="0"/>
            </a:br>
            <a:r>
              <a:rPr lang="fr-FR" dirty="0"/>
              <a:t>Les Framework JavaScript impliquent des aspects UI / UX, Test et Gestion des produits.</a:t>
            </a:r>
          </a:p>
          <a:p>
            <a:r>
              <a:rPr lang="fr-FR" b="1" dirty="0"/>
              <a:t>Les avantages des </a:t>
            </a:r>
            <a:r>
              <a:rPr lang="fr-FR" b="1" dirty="0" err="1"/>
              <a:t>framework</a:t>
            </a:r>
            <a:r>
              <a:rPr lang="fr-FR" b="1" dirty="0"/>
              <a:t> javascript dans le développement web:</a:t>
            </a:r>
          </a:p>
          <a:p>
            <a:pPr>
              <a:buFont typeface="Arial" panose="020B0604020202020204" pitchFamily="34" charset="0"/>
              <a:buChar char="•"/>
            </a:pPr>
            <a:r>
              <a:rPr lang="fr-FR" dirty="0"/>
              <a:t>Permet aux développeurs à écrire des modules de code sans craindre une incompatibilité des navigateurs.</a:t>
            </a:r>
          </a:p>
          <a:p>
            <a:pPr>
              <a:buFont typeface="Arial" panose="020B0604020202020204" pitchFamily="34" charset="0"/>
              <a:buChar char="•"/>
            </a:pPr>
            <a:r>
              <a:rPr lang="fr-FR" dirty="0"/>
              <a:t>Propose des modèles HTML intégrés, rendant les données dans le balisage facile à lire.</a:t>
            </a:r>
          </a:p>
          <a:p>
            <a:pPr>
              <a:buFont typeface="Arial" panose="020B0604020202020204" pitchFamily="34" charset="0"/>
              <a:buChar char="•"/>
            </a:pPr>
            <a:r>
              <a:rPr lang="fr-FR" dirty="0"/>
              <a:t>Offre une conception basée sur des composants, qui permet la réutilisation du contenu.</a:t>
            </a:r>
          </a:p>
          <a:p>
            <a:r>
              <a:rPr lang="fr-FR" b="1" dirty="0"/>
              <a:t>5- Responsive </a:t>
            </a:r>
            <a:r>
              <a:rPr lang="fr-FR" b="1" dirty="0" err="1"/>
              <a:t>Websites</a:t>
            </a:r>
            <a:endParaRPr lang="fr-FR" b="1" dirty="0"/>
          </a:p>
          <a:p>
            <a:r>
              <a:rPr lang="fr-FR" dirty="0"/>
              <a:t>La conception Web responsive est une approche de développement Web utilisée pour créer des sites Web dynamiques qui s’adaptent à différentes tailles d’écran. Chaque seconde, une demande de recherche est effectuée sur Internet à partir d’un appareil mobile, ce qui signifie que les entreprises doivent investir dans une conception Web responsive pour créer des sites Web qui s’adaptent automatiquement à n’importe quel appareil.</a:t>
            </a:r>
          </a:p>
          <a:p>
            <a:r>
              <a:rPr lang="fr-FR" dirty="0"/>
              <a:t>De plus, Google avait annoncé que la version mobile serait un facteur de classement dans ses algorithmes de moteur de recherche.</a:t>
            </a:r>
          </a:p>
          <a:p>
            <a:r>
              <a:rPr lang="fr-FR" b="1" dirty="0"/>
              <a:t>Les avantages :</a:t>
            </a:r>
          </a:p>
          <a:p>
            <a:pPr>
              <a:buFont typeface="Arial" panose="020B0604020202020204" pitchFamily="34" charset="0"/>
              <a:buChar char="•"/>
            </a:pPr>
            <a:r>
              <a:rPr lang="fr-FR" dirty="0"/>
              <a:t>Il est facile de surveiller les données analytiques.</a:t>
            </a:r>
          </a:p>
          <a:p>
            <a:pPr>
              <a:buFont typeface="Arial" panose="020B0604020202020204" pitchFamily="34" charset="0"/>
              <a:buChar char="•"/>
            </a:pPr>
            <a:r>
              <a:rPr lang="fr-FR" dirty="0"/>
              <a:t>Faciliter le classement dans les moteurs de recherche.</a:t>
            </a:r>
          </a:p>
          <a:p>
            <a:pPr>
              <a:buFont typeface="Arial" panose="020B0604020202020204" pitchFamily="34" charset="0"/>
              <a:buChar char="•"/>
            </a:pPr>
            <a:r>
              <a:rPr lang="fr-FR" dirty="0"/>
              <a:t>La conception Web responsive est plus facile à maintenir.</a:t>
            </a:r>
          </a:p>
          <a:p>
            <a:endParaRPr lang="fr-FR" dirty="0"/>
          </a:p>
        </p:txBody>
      </p:sp>
      <p:sp>
        <p:nvSpPr>
          <p:cNvPr id="4" name="Espace réservé du numéro de diapositive 3"/>
          <p:cNvSpPr>
            <a:spLocks noGrp="1"/>
          </p:cNvSpPr>
          <p:nvPr>
            <p:ph type="sldNum" sz="quarter" idx="5"/>
          </p:nvPr>
        </p:nvSpPr>
        <p:spPr/>
        <p:txBody>
          <a:bodyPr/>
          <a:lstStyle/>
          <a:p>
            <a:fld id="{DF9CBFCD-627F-464D-801B-BDB882830F49}" type="slidenum">
              <a:rPr lang="fr-FR" smtClean="0"/>
              <a:t>2</a:t>
            </a:fld>
            <a:endParaRPr lang="fr-FR"/>
          </a:p>
        </p:txBody>
      </p:sp>
    </p:spTree>
    <p:extLst>
      <p:ext uri="{BB962C8B-B14F-4D97-AF65-F5344CB8AC3E}">
        <p14:creationId xmlns:p14="http://schemas.microsoft.com/office/powerpoint/2010/main" val="1652211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Nous avons analysé les changements de l’industrie et nous vous présentons 6 tendances de développement Web pour 2022.</a:t>
            </a:r>
          </a:p>
          <a:p>
            <a:r>
              <a:rPr lang="fr-FR" b="1" dirty="0"/>
              <a:t>1- Progressive Web Apps (PWA)</a:t>
            </a:r>
          </a:p>
          <a:p>
            <a:r>
              <a:rPr lang="fr-FR" dirty="0"/>
              <a:t>Une application Web progressive (PWA) est un type de logiciel d’application construit à l’aide de technologies Web communes telles que HTML et JavaScript. PWA fonctionne sur n’importe quel appareil avec un navigateur normal. La technologie a acquis une popularité pour son potentiel d’offrir une expérience utilisateur de haute qualité. La technologie permet aux développeurs Web combiner les capacités des sites Web et des applications mobiles</a:t>
            </a:r>
          </a:p>
          <a:p>
            <a:r>
              <a:rPr lang="fr-FR" b="1" dirty="0"/>
              <a:t>Les avantages :</a:t>
            </a:r>
          </a:p>
          <a:p>
            <a:pPr>
              <a:buFont typeface="Arial" panose="020B0604020202020204" pitchFamily="34" charset="0"/>
              <a:buChar char="•"/>
            </a:pPr>
            <a:r>
              <a:rPr lang="fr-FR" dirty="0"/>
              <a:t>Créez une expérience utilisateur immersive.</a:t>
            </a:r>
          </a:p>
          <a:p>
            <a:pPr>
              <a:buFont typeface="Arial" panose="020B0604020202020204" pitchFamily="34" charset="0"/>
              <a:buChar char="•"/>
            </a:pPr>
            <a:r>
              <a:rPr lang="fr-FR" dirty="0"/>
              <a:t>Augmenter les taux d’engagement des utilisateurs.</a:t>
            </a:r>
          </a:p>
          <a:p>
            <a:pPr>
              <a:buFont typeface="Arial" panose="020B0604020202020204" pitchFamily="34" charset="0"/>
              <a:buChar char="•"/>
            </a:pPr>
            <a:r>
              <a:rPr lang="fr-FR" dirty="0"/>
              <a:t>Des coûts de développement comparativement faibles.</a:t>
            </a:r>
          </a:p>
          <a:p>
            <a:pPr>
              <a:buFont typeface="Arial" panose="020B0604020202020204" pitchFamily="34" charset="0"/>
              <a:buChar char="•"/>
            </a:pPr>
            <a:r>
              <a:rPr lang="fr-FR" dirty="0"/>
              <a:t>Ne dépens pas des services de distribution d’applications d’</a:t>
            </a:r>
            <a:r>
              <a:rPr lang="fr-FR" dirty="0" err="1"/>
              <a:t>Appstore</a:t>
            </a:r>
            <a:r>
              <a:rPr lang="fr-FR" dirty="0"/>
              <a:t> ou de Play Store.</a:t>
            </a:r>
          </a:p>
          <a:p>
            <a:r>
              <a:rPr lang="fr-FR" b="1" dirty="0"/>
              <a:t>2- </a:t>
            </a:r>
            <a:r>
              <a:rPr lang="fr-FR" b="1" dirty="0" err="1"/>
              <a:t>Accelerated</a:t>
            </a:r>
            <a:r>
              <a:rPr lang="fr-FR" b="1" dirty="0"/>
              <a:t> Mobile Pages (AMP)</a:t>
            </a:r>
          </a:p>
          <a:p>
            <a:r>
              <a:rPr lang="fr-FR" dirty="0"/>
              <a:t>Les pages mobiles accélérées sont une tendance de développement de sites Web en 2022. C’est un projet né de la collaboration entre Google et Twitter pour créer des pages mobiles plus rapides. Les pages optimisées AMP chargent facilement et ainsi se classent mieux que les autres pages Web mobiles sur les moteurs de recherches. Les pages AMP sont chargées environ 2 secondes par rapport aux pages classiques, qui peuvent prendre jusqu’à 22 secondes.</a:t>
            </a:r>
          </a:p>
          <a:p>
            <a:r>
              <a:rPr lang="fr-FR" b="1" dirty="0"/>
              <a:t>Les avantages :</a:t>
            </a:r>
          </a:p>
          <a:p>
            <a:pPr>
              <a:buFont typeface="Arial" panose="020B0604020202020204" pitchFamily="34" charset="0"/>
              <a:buChar char="•"/>
            </a:pPr>
            <a:r>
              <a:rPr lang="fr-FR" dirty="0"/>
              <a:t>Taux de rebond bas.</a:t>
            </a:r>
          </a:p>
          <a:p>
            <a:pPr>
              <a:buFont typeface="Arial" panose="020B0604020202020204" pitchFamily="34" charset="0"/>
              <a:buChar char="•"/>
            </a:pPr>
            <a:r>
              <a:rPr lang="fr-FR" dirty="0"/>
              <a:t>S’ajuste à n’importe quel navigateur.</a:t>
            </a:r>
          </a:p>
          <a:p>
            <a:pPr>
              <a:buFont typeface="Arial" panose="020B0604020202020204" pitchFamily="34" charset="0"/>
              <a:buChar char="•"/>
            </a:pPr>
            <a:r>
              <a:rPr lang="fr-FR" dirty="0"/>
              <a:t>Pas besoin de créer des </a:t>
            </a:r>
            <a:r>
              <a:rPr lang="fr-FR" dirty="0" err="1"/>
              <a:t>sitemaps</a:t>
            </a:r>
            <a:r>
              <a:rPr lang="fr-FR" dirty="0"/>
              <a:t> à envoyer aux moteurs de recherche.</a:t>
            </a:r>
          </a:p>
          <a:p>
            <a:r>
              <a:rPr lang="fr-FR" b="1" dirty="0"/>
              <a:t>3- Single-Page Applications (SPA)</a:t>
            </a:r>
          </a:p>
          <a:p>
            <a:r>
              <a:rPr lang="fr-FR" dirty="0"/>
              <a:t>Le SPA est l’une des technologies de développement Web qui est le plus déployées, contrairement aux applications de site Web conventionnelles, elles contiennent une seule page qui charge initialement la page Web de l’ensemble de la page Web, puis charge le contenu dynamique de la même page. HTML5 et AJAX sont utilisés pour chargent les pages SPA.</a:t>
            </a:r>
            <a:br>
              <a:rPr lang="fr-FR" dirty="0"/>
            </a:br>
            <a:r>
              <a:rPr lang="fr-FR" dirty="0"/>
              <a:t>Les applications que nous utilisons quotidiennement, comme Facebook, Gmail et Twitter sont des spas.</a:t>
            </a:r>
            <a:br>
              <a:rPr lang="fr-FR" dirty="0"/>
            </a:br>
            <a:r>
              <a:rPr lang="fr-FR" dirty="0"/>
              <a:t>Les applications SPA ont plus de possibilité d’attirer l’attention des utilisateurs, car ils semblent fonctionner rapidement avec un retour instantané contrairement aux sites Web classiques, où on doit attendre le chargement de la page.</a:t>
            </a:r>
          </a:p>
          <a:p>
            <a:r>
              <a:rPr lang="fr-FR" b="1" dirty="0"/>
              <a:t>Les avantages :</a:t>
            </a:r>
          </a:p>
          <a:p>
            <a:pPr>
              <a:buFont typeface="Arial" panose="020B0604020202020204" pitchFamily="34" charset="0"/>
              <a:buChar char="•"/>
            </a:pPr>
            <a:r>
              <a:rPr lang="fr-FR" dirty="0"/>
              <a:t>Meilleures optimisation pour le référencement.</a:t>
            </a:r>
          </a:p>
          <a:p>
            <a:pPr>
              <a:buFont typeface="Arial" panose="020B0604020202020204" pitchFamily="34" charset="0"/>
              <a:buChar char="•"/>
            </a:pPr>
            <a:r>
              <a:rPr lang="fr-FR" dirty="0"/>
              <a:t>Mise en œuvre rapide et débogage moins complexes.</a:t>
            </a:r>
          </a:p>
          <a:p>
            <a:pPr>
              <a:buFont typeface="Arial" panose="020B0604020202020204" pitchFamily="34" charset="0"/>
              <a:buChar char="•"/>
            </a:pPr>
            <a:r>
              <a:rPr lang="fr-FR" dirty="0"/>
              <a:t>Charge rapide de la page avec cache et taux de rebond réduit</a:t>
            </a:r>
          </a:p>
          <a:p>
            <a:r>
              <a:rPr lang="fr-FR" b="1" dirty="0"/>
              <a:t>4- JavaScript Framework</a:t>
            </a:r>
          </a:p>
          <a:p>
            <a:r>
              <a:rPr lang="fr-FR" dirty="0"/>
              <a:t>Un Framework JavaScript est un groupe de bibliothèques de code à partir desquels les développeurs peuvent accéder au code pré-écrit pour des tâches de programmation régulières. JavaScript est considéré comme le langage de programmation le plus utilisé dans le monde et les nouvelles tendances du site Web dans les prochaines années verront le développement poussé des Framework JavaScript.</a:t>
            </a:r>
            <a:br>
              <a:rPr lang="fr-FR" dirty="0"/>
            </a:br>
            <a:r>
              <a:rPr lang="fr-FR" dirty="0"/>
              <a:t>Les Framework JavaScript impliquent des aspects UI / UX, Test et Gestion des produits.</a:t>
            </a:r>
          </a:p>
          <a:p>
            <a:r>
              <a:rPr lang="fr-FR" b="1" dirty="0"/>
              <a:t>Les avantages des </a:t>
            </a:r>
            <a:r>
              <a:rPr lang="fr-FR" b="1" dirty="0" err="1"/>
              <a:t>framework</a:t>
            </a:r>
            <a:r>
              <a:rPr lang="fr-FR" b="1" dirty="0"/>
              <a:t> javascript dans le développement web:</a:t>
            </a:r>
          </a:p>
          <a:p>
            <a:pPr>
              <a:buFont typeface="Arial" panose="020B0604020202020204" pitchFamily="34" charset="0"/>
              <a:buChar char="•"/>
            </a:pPr>
            <a:r>
              <a:rPr lang="fr-FR" dirty="0"/>
              <a:t>Permet aux développeurs à écrire des modules de code sans craindre une incompatibilité des navigateurs.</a:t>
            </a:r>
          </a:p>
          <a:p>
            <a:pPr>
              <a:buFont typeface="Arial" panose="020B0604020202020204" pitchFamily="34" charset="0"/>
              <a:buChar char="•"/>
            </a:pPr>
            <a:r>
              <a:rPr lang="fr-FR" dirty="0"/>
              <a:t>Propose des modèles HTML intégrés, rendant les données dans le balisage facile à lire.</a:t>
            </a:r>
          </a:p>
          <a:p>
            <a:pPr>
              <a:buFont typeface="Arial" panose="020B0604020202020204" pitchFamily="34" charset="0"/>
              <a:buChar char="•"/>
            </a:pPr>
            <a:r>
              <a:rPr lang="fr-FR" dirty="0"/>
              <a:t>Offre une conception basée sur des composants, qui permet la réutilisation du contenu.</a:t>
            </a:r>
          </a:p>
          <a:p>
            <a:r>
              <a:rPr lang="fr-FR" b="1" dirty="0"/>
              <a:t>5- Responsive </a:t>
            </a:r>
            <a:r>
              <a:rPr lang="fr-FR" b="1" dirty="0" err="1"/>
              <a:t>Websites</a:t>
            </a:r>
            <a:endParaRPr lang="fr-FR" b="1" dirty="0"/>
          </a:p>
          <a:p>
            <a:r>
              <a:rPr lang="fr-FR" dirty="0"/>
              <a:t>La conception Web responsive est une approche de développement Web utilisée pour créer des sites Web dynamiques qui s’adaptent à différentes tailles d’écran. Chaque seconde, une demande de recherche est effectuée sur Internet à partir d’un appareil mobile, ce qui signifie que les entreprises doivent investir dans une conception Web responsive pour créer des sites Web qui s’adaptent automatiquement à n’importe quel appareil.</a:t>
            </a:r>
          </a:p>
          <a:p>
            <a:r>
              <a:rPr lang="fr-FR" dirty="0"/>
              <a:t>De plus, Google avait annoncé que la version mobile serait un facteur de classement dans ses algorithmes de moteur de recherche.</a:t>
            </a:r>
          </a:p>
          <a:p>
            <a:r>
              <a:rPr lang="fr-FR" b="1" dirty="0"/>
              <a:t>Les avantages :</a:t>
            </a:r>
          </a:p>
          <a:p>
            <a:pPr>
              <a:buFont typeface="Arial" panose="020B0604020202020204" pitchFamily="34" charset="0"/>
              <a:buChar char="•"/>
            </a:pPr>
            <a:r>
              <a:rPr lang="fr-FR" dirty="0"/>
              <a:t>Il est facile de surveiller les données analytiques.</a:t>
            </a:r>
          </a:p>
          <a:p>
            <a:pPr>
              <a:buFont typeface="Arial" panose="020B0604020202020204" pitchFamily="34" charset="0"/>
              <a:buChar char="•"/>
            </a:pPr>
            <a:r>
              <a:rPr lang="fr-FR" dirty="0"/>
              <a:t>Faciliter le classement dans les moteurs de recherche.</a:t>
            </a:r>
          </a:p>
          <a:p>
            <a:pPr>
              <a:buFont typeface="Arial" panose="020B0604020202020204" pitchFamily="34" charset="0"/>
              <a:buChar char="•"/>
            </a:pPr>
            <a:r>
              <a:rPr lang="fr-FR" dirty="0"/>
              <a:t>La conception Web responsive est plus facile à maintenir.</a:t>
            </a:r>
          </a:p>
          <a:p>
            <a:endParaRPr lang="fr-FR" dirty="0"/>
          </a:p>
        </p:txBody>
      </p:sp>
      <p:sp>
        <p:nvSpPr>
          <p:cNvPr id="4" name="Espace réservé du numéro de diapositive 3"/>
          <p:cNvSpPr>
            <a:spLocks noGrp="1"/>
          </p:cNvSpPr>
          <p:nvPr>
            <p:ph type="sldNum" sz="quarter" idx="5"/>
          </p:nvPr>
        </p:nvSpPr>
        <p:spPr/>
        <p:txBody>
          <a:bodyPr/>
          <a:lstStyle/>
          <a:p>
            <a:fld id="{DF9CBFCD-627F-464D-801B-BDB882830F49}" type="slidenum">
              <a:rPr lang="fr-FR" smtClean="0"/>
              <a:t>3</a:t>
            </a:fld>
            <a:endParaRPr lang="fr-FR"/>
          </a:p>
        </p:txBody>
      </p:sp>
    </p:spTree>
    <p:extLst>
      <p:ext uri="{BB962C8B-B14F-4D97-AF65-F5344CB8AC3E}">
        <p14:creationId xmlns:p14="http://schemas.microsoft.com/office/powerpoint/2010/main" val="3097620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32155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1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fr-FR" sz="3200" b="0" strike="noStrike" spc="-1">
              <a:latin typeface="Arial"/>
            </a:endParaRPr>
          </a:p>
        </p:txBody>
      </p:sp>
    </p:spTree>
    <p:extLst>
      <p:ext uri="{BB962C8B-B14F-4D97-AF65-F5344CB8AC3E}">
        <p14:creationId xmlns:p14="http://schemas.microsoft.com/office/powerpoint/2010/main" val="3120743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1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1363185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a:endParaRPr>
          </a:p>
        </p:txBody>
      </p:sp>
      <p:sp>
        <p:nvSpPr>
          <p:cNvPr id="1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1477673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Tree>
    <p:extLst>
      <p:ext uri="{BB962C8B-B14F-4D97-AF65-F5344CB8AC3E}">
        <p14:creationId xmlns:p14="http://schemas.microsoft.com/office/powerpoint/2010/main" val="1514786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fr-FR" sz="3200" b="0" strike="noStrike" spc="-1">
              <a:latin typeface="Arial"/>
            </a:endParaRPr>
          </a:p>
        </p:txBody>
      </p:sp>
    </p:spTree>
    <p:extLst>
      <p:ext uri="{BB962C8B-B14F-4D97-AF65-F5344CB8AC3E}">
        <p14:creationId xmlns:p14="http://schemas.microsoft.com/office/powerpoint/2010/main" val="865377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a:endParaRPr>
          </a:p>
        </p:txBody>
      </p:sp>
      <p:sp>
        <p:nvSpPr>
          <p:cNvPr id="2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a:endParaRPr>
          </a:p>
        </p:txBody>
      </p:sp>
      <p:sp>
        <p:nvSpPr>
          <p:cNvPr id="2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999392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2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a:endParaRPr>
          </a:p>
        </p:txBody>
      </p:sp>
      <p:sp>
        <p:nvSpPr>
          <p:cNvPr id="2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451372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3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a:endParaRPr>
          </a:p>
        </p:txBody>
      </p:sp>
      <p:sp>
        <p:nvSpPr>
          <p:cNvPr id="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a:endParaRPr>
          </a:p>
        </p:txBody>
      </p:sp>
      <p:sp>
        <p:nvSpPr>
          <p:cNvPr id="3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151919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3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3200" b="0" strike="noStrike" spc="-1">
              <a:latin typeface="Arial"/>
            </a:endParaRPr>
          </a:p>
        </p:txBody>
      </p:sp>
      <p:sp>
        <p:nvSpPr>
          <p:cNvPr id="3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2471202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3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a:endParaRPr>
          </a:p>
        </p:txBody>
      </p:sp>
      <p:sp>
        <p:nvSpPr>
          <p:cNvPr id="3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a:endParaRPr>
          </a:p>
        </p:txBody>
      </p:sp>
      <p:sp>
        <p:nvSpPr>
          <p:cNvPr id="4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a:endParaRPr>
          </a:p>
        </p:txBody>
      </p:sp>
      <p:sp>
        <p:nvSpPr>
          <p:cNvPr id="4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12705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4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3200" b="0" strike="noStrike" spc="-1">
              <a:latin typeface="Arial"/>
            </a:endParaRPr>
          </a:p>
        </p:txBody>
      </p:sp>
      <p:sp>
        <p:nvSpPr>
          <p:cNvPr id="4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3200" b="0" strike="noStrike" spc="-1">
              <a:latin typeface="Arial"/>
            </a:endParaRPr>
          </a:p>
        </p:txBody>
      </p:sp>
      <p:sp>
        <p:nvSpPr>
          <p:cNvPr id="4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3200" b="0" strike="noStrike" spc="-1">
              <a:latin typeface="Arial"/>
            </a:endParaRPr>
          </a:p>
        </p:txBody>
      </p:sp>
      <p:sp>
        <p:nvSpPr>
          <p:cNvPr id="4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3200" b="0" strike="noStrike" spc="-1">
              <a:latin typeface="Arial"/>
            </a:endParaRPr>
          </a:p>
        </p:txBody>
      </p:sp>
      <p:sp>
        <p:nvSpPr>
          <p:cNvPr id="4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3200" b="0" strike="noStrike" spc="-1">
              <a:latin typeface="Arial"/>
            </a:endParaRPr>
          </a:p>
        </p:txBody>
      </p:sp>
      <p:sp>
        <p:nvSpPr>
          <p:cNvPr id="4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3946993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783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5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fr-FR" sz="3200" b="0" strike="noStrike" spc="-1">
              <a:latin typeface="Arial"/>
            </a:endParaRPr>
          </a:p>
        </p:txBody>
      </p:sp>
    </p:spTree>
    <p:extLst>
      <p:ext uri="{BB962C8B-B14F-4D97-AF65-F5344CB8AC3E}">
        <p14:creationId xmlns:p14="http://schemas.microsoft.com/office/powerpoint/2010/main" val="1197597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5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974851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5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a:endParaRPr>
          </a:p>
        </p:txBody>
      </p:sp>
      <p:sp>
        <p:nvSpPr>
          <p:cNvPr id="6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35514203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Tree>
    <p:extLst>
      <p:ext uri="{BB962C8B-B14F-4D97-AF65-F5344CB8AC3E}">
        <p14:creationId xmlns:p14="http://schemas.microsoft.com/office/powerpoint/2010/main" val="4094788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fr-FR" sz="3200" b="0" strike="noStrike" spc="-1">
              <a:latin typeface="Arial"/>
            </a:endParaRPr>
          </a:p>
        </p:txBody>
      </p:sp>
    </p:spTree>
    <p:extLst>
      <p:ext uri="{BB962C8B-B14F-4D97-AF65-F5344CB8AC3E}">
        <p14:creationId xmlns:p14="http://schemas.microsoft.com/office/powerpoint/2010/main" val="1208422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6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a:endParaRPr>
          </a:p>
        </p:txBody>
      </p:sp>
      <p:sp>
        <p:nvSpPr>
          <p:cNvPr id="6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fr-FR" sz="3200" b="0" strike="noStrike" spc="-1">
              <a:latin typeface="Arial"/>
            </a:endParaRPr>
          </a:p>
        </p:txBody>
      </p:sp>
      <p:sp>
        <p:nvSpPr>
          <p:cNvPr id="6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2792207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6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fr-FR" sz="3200" b="0" strike="noStrike" spc="-1">
              <a:latin typeface="Arial"/>
            </a:endParaRPr>
          </a:p>
        </p:txBody>
      </p:sp>
      <p:sp>
        <p:nvSpPr>
          <p:cNvPr id="6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a:endParaRPr>
          </a:p>
        </p:txBody>
      </p:sp>
      <p:sp>
        <p:nvSpPr>
          <p:cNvPr id="7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3898473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a:endParaRPr>
          </a:p>
        </p:txBody>
      </p:sp>
      <p:sp>
        <p:nvSpPr>
          <p:cNvPr id="7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42004253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7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fr-FR" sz="3200" b="0" strike="noStrike" spc="-1">
              <a:latin typeface="Arial"/>
            </a:endParaRPr>
          </a:p>
        </p:txBody>
      </p:sp>
      <p:sp>
        <p:nvSpPr>
          <p:cNvPr id="7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1485209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7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fr-FR" sz="3200" b="0" strike="noStrike" spc="-1">
              <a:latin typeface="Arial"/>
            </a:endParaRPr>
          </a:p>
        </p:txBody>
      </p:sp>
      <p:sp>
        <p:nvSpPr>
          <p:cNvPr id="8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fr-FR" sz="3200" b="0" strike="noStrike" spc="-1">
              <a:latin typeface="Arial"/>
            </a:endParaRPr>
          </a:p>
        </p:txBody>
      </p:sp>
      <p:sp>
        <p:nvSpPr>
          <p:cNvPr id="8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fr-FR" sz="3200" b="0" strike="noStrike" spc="-1">
              <a:latin typeface="Arial"/>
            </a:endParaRPr>
          </a:p>
        </p:txBody>
      </p:sp>
      <p:sp>
        <p:nvSpPr>
          <p:cNvPr id="8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35443820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fr-FR" sz="4400" b="0" strike="noStrike" spc="-1">
              <a:latin typeface="Arial"/>
            </a:endParaRPr>
          </a:p>
        </p:txBody>
      </p:sp>
      <p:sp>
        <p:nvSpPr>
          <p:cNvPr id="8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fr-FR" sz="3200" b="0" strike="noStrike" spc="-1">
              <a:latin typeface="Arial"/>
            </a:endParaRPr>
          </a:p>
        </p:txBody>
      </p:sp>
      <p:sp>
        <p:nvSpPr>
          <p:cNvPr id="8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fr-FR" sz="3200" b="0" strike="noStrike" spc="-1">
              <a:latin typeface="Arial"/>
            </a:endParaRPr>
          </a:p>
        </p:txBody>
      </p:sp>
      <p:sp>
        <p:nvSpPr>
          <p:cNvPr id="8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fr-FR" sz="3200" b="0" strike="noStrike" spc="-1">
              <a:latin typeface="Arial"/>
            </a:endParaRPr>
          </a:p>
        </p:txBody>
      </p:sp>
      <p:sp>
        <p:nvSpPr>
          <p:cNvPr id="8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fr-FR" sz="3200" b="0" strike="noStrike" spc="-1">
              <a:latin typeface="Arial"/>
            </a:endParaRPr>
          </a:p>
        </p:txBody>
      </p:sp>
      <p:sp>
        <p:nvSpPr>
          <p:cNvPr id="8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fr-FR" sz="3200" b="0" strike="noStrike" spc="-1">
              <a:latin typeface="Arial"/>
            </a:endParaRPr>
          </a:p>
        </p:txBody>
      </p:sp>
      <p:sp>
        <p:nvSpPr>
          <p:cNvPr id="8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fr-FR" sz="3200" b="0" strike="noStrike" spc="-1">
              <a:latin typeface="Arial"/>
            </a:endParaRPr>
          </a:p>
        </p:txBody>
      </p:sp>
    </p:spTree>
    <p:extLst>
      <p:ext uri="{BB962C8B-B14F-4D97-AF65-F5344CB8AC3E}">
        <p14:creationId xmlns:p14="http://schemas.microsoft.com/office/powerpoint/2010/main" val="3817328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a:extLst>
              <a:ext uri="{FF2B5EF4-FFF2-40B4-BE49-F238E27FC236}">
                <a16:creationId xmlns:a16="http://schemas.microsoft.com/office/drawing/2014/main" id="{B5F6DCCB-8A0C-E810-ACE5-6DF150B3C6D9}"/>
              </a:ext>
            </a:extLst>
          </p:cNvPr>
          <p:cNvSpPr>
            <a:spLocks noGrp="1" noChangeArrowheads="1"/>
          </p:cNvSpPr>
          <p:nvPr>
            <p:ph type="sldNum" sz="quarter" idx="10"/>
          </p:nvPr>
        </p:nvSpPr>
        <p:spPr>
          <a:ln/>
        </p:spPr>
        <p:txBody>
          <a:bodyPr/>
          <a:lstStyle>
            <a:lvl1pPr>
              <a:defRPr/>
            </a:lvl1pPr>
          </a:lstStyle>
          <a:p>
            <a:pPr>
              <a:defRPr/>
            </a:pPr>
            <a:endParaRPr lang="fr-FR" altLang="fr-FR" dirty="0"/>
          </a:p>
        </p:txBody>
      </p:sp>
      <p:sp>
        <p:nvSpPr>
          <p:cNvPr id="7" name="ZoneTexte 6">
            <a:extLst>
              <a:ext uri="{FF2B5EF4-FFF2-40B4-BE49-F238E27FC236}">
                <a16:creationId xmlns:a16="http://schemas.microsoft.com/office/drawing/2014/main" id="{36103CB7-2C21-2780-7AC3-4C87D3D1703A}"/>
              </a:ext>
            </a:extLst>
          </p:cNvPr>
          <p:cNvSpPr txBox="1"/>
          <p:nvPr userDrawn="1"/>
        </p:nvSpPr>
        <p:spPr>
          <a:xfrm>
            <a:off x="11153775" y="6430511"/>
            <a:ext cx="530915" cy="307777"/>
          </a:xfrm>
          <a:prstGeom prst="rect">
            <a:avLst/>
          </a:prstGeom>
          <a:noFill/>
        </p:spPr>
        <p:txBody>
          <a:bodyPr wrap="none" rtlCol="0">
            <a:spAutoFit/>
          </a:bodyPr>
          <a:lstStyle/>
          <a:p>
            <a:fld id="{F6A3F913-073D-6E48-A328-960145CDD97D}" type="slidenum">
              <a:rPr lang="fr-FR" altLang="fr-FR" sz="1400" smtClean="0"/>
              <a:pPr/>
              <a:t>‹N°›</a:t>
            </a:fld>
            <a:endParaRPr lang="fr-FR" sz="1400" dirty="0"/>
          </a:p>
        </p:txBody>
      </p:sp>
    </p:spTree>
    <p:extLst>
      <p:ext uri="{BB962C8B-B14F-4D97-AF65-F5344CB8AC3E}">
        <p14:creationId xmlns:p14="http://schemas.microsoft.com/office/powerpoint/2010/main" val="1682373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6.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5.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13" name="CustomShape 1"/>
          <p:cNvSpPr/>
          <p:nvPr/>
        </p:nvSpPr>
        <p:spPr>
          <a:xfrm>
            <a:off x="0" y="-2900520"/>
            <a:ext cx="13075200" cy="8716320"/>
          </a:xfrm>
          <a:prstGeom prst="rect">
            <a:avLst/>
          </a:prstGeom>
          <a:blipFill rotWithShape="0">
            <a:blip r:embed="rId14">
              <a:alphaModFix amt="30000"/>
            </a:blip>
            <a:stretch>
              <a:fillRect/>
            </a:stretch>
          </a:blipFill>
          <a:ln>
            <a:noFill/>
          </a:ln>
        </p:spPr>
        <p:style>
          <a:lnRef idx="2">
            <a:schemeClr val="accent1">
              <a:shade val="50000"/>
            </a:schemeClr>
          </a:lnRef>
          <a:fillRef idx="1">
            <a:schemeClr val="accent1"/>
          </a:fillRef>
          <a:effectRef idx="0">
            <a:schemeClr val="accent1"/>
          </a:effectRef>
          <a:fontRef idx="minor"/>
        </p:style>
      </p:sp>
      <p:sp>
        <p:nvSpPr>
          <p:cNvPr id="14" name="CustomShape 2"/>
          <p:cNvSpPr/>
          <p:nvPr/>
        </p:nvSpPr>
        <p:spPr>
          <a:xfrm>
            <a:off x="7023600" y="6256800"/>
            <a:ext cx="5391720" cy="349920"/>
          </a:xfrm>
          <a:prstGeom prst="rect">
            <a:avLst/>
          </a:prstGeom>
          <a:solidFill>
            <a:srgbClr val="009BB9"/>
          </a:solidFill>
          <a:ln>
            <a:solidFill>
              <a:srgbClr val="009BB9"/>
            </a:solidFill>
          </a:ln>
        </p:spPr>
        <p:style>
          <a:lnRef idx="2">
            <a:schemeClr val="accent1">
              <a:shade val="50000"/>
            </a:schemeClr>
          </a:lnRef>
          <a:fillRef idx="1">
            <a:schemeClr val="accent1"/>
          </a:fillRef>
          <a:effectRef idx="0">
            <a:schemeClr val="accent1"/>
          </a:effectRef>
          <a:fontRef idx="minor"/>
        </p:style>
      </p:sp>
      <p:sp>
        <p:nvSpPr>
          <p:cNvPr id="2" name="Line 3"/>
          <p:cNvSpPr/>
          <p:nvPr/>
        </p:nvSpPr>
        <p:spPr>
          <a:xfrm>
            <a:off x="145440" y="2563200"/>
            <a:ext cx="4057920" cy="0"/>
          </a:xfrm>
          <a:prstGeom prst="line">
            <a:avLst/>
          </a:prstGeom>
          <a:ln w="76320">
            <a:solidFill>
              <a:srgbClr val="009BB9"/>
            </a:solidFill>
          </a:ln>
        </p:spPr>
        <p:style>
          <a:lnRef idx="1">
            <a:schemeClr val="accent1"/>
          </a:lnRef>
          <a:fillRef idx="0">
            <a:schemeClr val="accent1"/>
          </a:fillRef>
          <a:effectRef idx="0">
            <a:schemeClr val="accent1"/>
          </a:effectRef>
          <a:fontRef idx="minor"/>
        </p:style>
      </p:sp>
      <p:sp>
        <p:nvSpPr>
          <p:cNvPr id="3" name="CustomShape 4"/>
          <p:cNvSpPr/>
          <p:nvPr/>
        </p:nvSpPr>
        <p:spPr>
          <a:xfrm>
            <a:off x="10145160" y="6278760"/>
            <a:ext cx="2102400" cy="2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fr-FR" sz="1300" b="0" strike="noStrike" spc="-1">
                <a:solidFill>
                  <a:srgbClr val="FFFFFF"/>
                </a:solidFill>
                <a:latin typeface="Neutra Text"/>
                <a:ea typeface="DejaVu Sans"/>
              </a:rPr>
              <a:t>@IUTLumiereLyon2</a:t>
            </a:r>
            <a:endParaRPr lang="fr-FR" sz="1300" b="0" strike="noStrike" spc="-1">
              <a:latin typeface="Arial"/>
            </a:endParaRPr>
          </a:p>
        </p:txBody>
      </p:sp>
      <p:pic>
        <p:nvPicPr>
          <p:cNvPr id="4" name="Image 17"/>
          <p:cNvPicPr/>
          <p:nvPr/>
        </p:nvPicPr>
        <p:blipFill>
          <a:blip r:embed="rId15"/>
          <a:stretch/>
        </p:blipFill>
        <p:spPr>
          <a:xfrm>
            <a:off x="9548640" y="6336000"/>
            <a:ext cx="286920" cy="214920"/>
          </a:xfrm>
          <a:prstGeom prst="rect">
            <a:avLst/>
          </a:prstGeom>
          <a:ln>
            <a:noFill/>
          </a:ln>
        </p:spPr>
      </p:pic>
      <p:pic>
        <p:nvPicPr>
          <p:cNvPr id="5" name="Image 18"/>
          <p:cNvPicPr/>
          <p:nvPr/>
        </p:nvPicPr>
        <p:blipFill>
          <a:blip r:embed="rId16"/>
          <a:stretch/>
        </p:blipFill>
        <p:spPr>
          <a:xfrm>
            <a:off x="9907920" y="6336000"/>
            <a:ext cx="286920" cy="214920"/>
          </a:xfrm>
          <a:prstGeom prst="rect">
            <a:avLst/>
          </a:prstGeom>
          <a:ln>
            <a:noFill/>
          </a:ln>
        </p:spPr>
      </p:pic>
      <p:sp>
        <p:nvSpPr>
          <p:cNvPr id="6" name="CustomShape 5"/>
          <p:cNvSpPr/>
          <p:nvPr/>
        </p:nvSpPr>
        <p:spPr>
          <a:xfrm>
            <a:off x="7592400" y="6278400"/>
            <a:ext cx="1645200" cy="2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fr-FR" sz="1300" b="0" strike="noStrike" spc="-1">
                <a:solidFill>
                  <a:srgbClr val="FFFFFF"/>
                </a:solidFill>
                <a:latin typeface="Neutra Text"/>
                <a:ea typeface="DejaVu Sans"/>
              </a:rPr>
              <a:t>iut.univ-lyon2.fr</a:t>
            </a:r>
            <a:endParaRPr lang="fr-FR" sz="1300" b="0" strike="noStrike" spc="-1">
              <a:latin typeface="Arial"/>
            </a:endParaRPr>
          </a:p>
        </p:txBody>
      </p:sp>
      <p:pic>
        <p:nvPicPr>
          <p:cNvPr id="7" name="Image 22"/>
          <p:cNvPicPr/>
          <p:nvPr/>
        </p:nvPicPr>
        <p:blipFill>
          <a:blip r:embed="rId17"/>
          <a:stretch/>
        </p:blipFill>
        <p:spPr>
          <a:xfrm>
            <a:off x="7066800" y="6247440"/>
            <a:ext cx="693000" cy="359640"/>
          </a:xfrm>
          <a:prstGeom prst="rect">
            <a:avLst/>
          </a:prstGeom>
          <a:ln>
            <a:noFill/>
          </a:ln>
        </p:spPr>
      </p:pic>
      <p:pic>
        <p:nvPicPr>
          <p:cNvPr id="8" name="Image 3"/>
          <p:cNvPicPr/>
          <p:nvPr/>
        </p:nvPicPr>
        <p:blipFill>
          <a:blip r:embed="rId18"/>
          <a:stretch/>
        </p:blipFill>
        <p:spPr>
          <a:xfrm>
            <a:off x="145440" y="155880"/>
            <a:ext cx="2314080" cy="2314080"/>
          </a:xfrm>
          <a:prstGeom prst="rect">
            <a:avLst/>
          </a:prstGeom>
          <a:ln>
            <a:noFill/>
          </a:ln>
        </p:spPr>
      </p:pic>
      <p:pic>
        <p:nvPicPr>
          <p:cNvPr id="9" name="Image 7"/>
          <p:cNvPicPr/>
          <p:nvPr/>
        </p:nvPicPr>
        <p:blipFill>
          <a:blip r:embed="rId19"/>
          <a:stretch/>
        </p:blipFill>
        <p:spPr>
          <a:xfrm>
            <a:off x="-39600" y="5928120"/>
            <a:ext cx="1527840" cy="798480"/>
          </a:xfrm>
          <a:prstGeom prst="rect">
            <a:avLst/>
          </a:prstGeom>
          <a:ln>
            <a:noFill/>
          </a:ln>
        </p:spPr>
      </p:pic>
      <p:pic>
        <p:nvPicPr>
          <p:cNvPr id="10" name="Image 11"/>
          <p:cNvPicPr/>
          <p:nvPr/>
        </p:nvPicPr>
        <p:blipFill>
          <a:blip r:embed="rId20"/>
          <a:stretch/>
        </p:blipFill>
        <p:spPr>
          <a:xfrm>
            <a:off x="1726920" y="5881320"/>
            <a:ext cx="858960" cy="908280"/>
          </a:xfrm>
          <a:prstGeom prst="rect">
            <a:avLst/>
          </a:prstGeom>
          <a:ln>
            <a:noFill/>
          </a:ln>
        </p:spPr>
      </p:pic>
      <p:sp>
        <p:nvSpPr>
          <p:cNvPr id="11" name="PlaceHolder 6"/>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fr-FR" sz="4400" b="0" strike="noStrike" spc="-1">
                <a:latin typeface="Arial"/>
              </a:rPr>
              <a:t>Cliquez pour éditer le format du texte-titre</a:t>
            </a:r>
          </a:p>
        </p:txBody>
      </p:sp>
      <p:sp>
        <p:nvSpPr>
          <p:cNvPr id="12" name="PlaceHolder 7"/>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fr-FR" sz="3200" b="0" strike="noStrike" spc="-1">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latin typeface="Arial"/>
              </a:rPr>
              <a:t>Septième niveau de plan</a:t>
            </a:r>
          </a:p>
        </p:txBody>
      </p:sp>
    </p:spTree>
    <p:extLst>
      <p:ext uri="{BB962C8B-B14F-4D97-AF65-F5344CB8AC3E}">
        <p14:creationId xmlns:p14="http://schemas.microsoft.com/office/powerpoint/2010/main" val="585645463"/>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49" name="CustomShape 1"/>
          <p:cNvSpPr/>
          <p:nvPr/>
        </p:nvSpPr>
        <p:spPr>
          <a:xfrm>
            <a:off x="-122040" y="-66600"/>
            <a:ext cx="12445920" cy="6989760"/>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p:style>
      </p:sp>
      <p:sp>
        <p:nvSpPr>
          <p:cNvPr id="50" name="Line 2"/>
          <p:cNvSpPr/>
          <p:nvPr/>
        </p:nvSpPr>
        <p:spPr>
          <a:xfrm>
            <a:off x="838080" y="351360"/>
            <a:ext cx="10515600" cy="0"/>
          </a:xfrm>
          <a:prstGeom prst="line">
            <a:avLst/>
          </a:prstGeom>
          <a:ln w="76320">
            <a:solidFill>
              <a:srgbClr val="009BB9"/>
            </a:solidFill>
          </a:ln>
        </p:spPr>
        <p:style>
          <a:lnRef idx="1">
            <a:schemeClr val="accent1"/>
          </a:lnRef>
          <a:fillRef idx="0">
            <a:schemeClr val="accent1"/>
          </a:fillRef>
          <a:effectRef idx="0">
            <a:schemeClr val="accent1"/>
          </a:effectRef>
          <a:fontRef idx="minor"/>
        </p:style>
      </p:sp>
      <p:pic>
        <p:nvPicPr>
          <p:cNvPr id="51" name="Image 11"/>
          <p:cNvPicPr/>
          <p:nvPr/>
        </p:nvPicPr>
        <p:blipFill>
          <a:blip r:embed="rId15"/>
          <a:stretch/>
        </p:blipFill>
        <p:spPr>
          <a:xfrm>
            <a:off x="0" y="5900760"/>
            <a:ext cx="1022400" cy="1022400"/>
          </a:xfrm>
          <a:prstGeom prst="rect">
            <a:avLst/>
          </a:prstGeom>
          <a:ln>
            <a:noFill/>
          </a:ln>
        </p:spPr>
      </p:pic>
      <p:sp>
        <p:nvSpPr>
          <p:cNvPr id="52" name="PlaceHolder 3"/>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fr-FR" sz="4400" b="0" strike="noStrike" spc="-1">
                <a:latin typeface="Arial"/>
              </a:rPr>
              <a:t>Cliquez pour éditer le format du texte-titre</a:t>
            </a:r>
          </a:p>
        </p:txBody>
      </p:sp>
      <p:sp>
        <p:nvSpPr>
          <p:cNvPr id="53" name="PlaceHolder 4"/>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fr-FR" sz="3200" b="0" strike="noStrike" spc="-1">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latin typeface="Arial"/>
              </a:rPr>
              <a:t>Septième niveau de plan</a:t>
            </a:r>
          </a:p>
        </p:txBody>
      </p:sp>
    </p:spTree>
    <p:extLst>
      <p:ext uri="{BB962C8B-B14F-4D97-AF65-F5344CB8AC3E}">
        <p14:creationId xmlns:p14="http://schemas.microsoft.com/office/powerpoint/2010/main" val="3618661563"/>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5.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127.0.0.1:3000/" TargetMode="Externa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hyperlink" Target="http://localhost/phpmyadmin/" TargetMode="Externa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idx="4294967295"/>
          </p:nvPr>
        </p:nvSpPr>
        <p:spPr>
          <a:xfrm>
            <a:off x="3276600" y="2171700"/>
            <a:ext cx="8915400" cy="2262188"/>
          </a:xfrm>
        </p:spPr>
        <p:txBody>
          <a:bodyPr/>
          <a:lstStyle/>
          <a:p>
            <a:r>
              <a:rPr lang="fr-FR" b="1" dirty="0"/>
              <a:t>Programmation Web pour la Visualisation</a:t>
            </a:r>
          </a:p>
        </p:txBody>
      </p:sp>
      <p:sp>
        <p:nvSpPr>
          <p:cNvPr id="3" name="Sous-titre 2"/>
          <p:cNvSpPr>
            <a:spLocks noGrp="1"/>
          </p:cNvSpPr>
          <p:nvPr>
            <p:ph type="subTitle" idx="4294967295"/>
          </p:nvPr>
        </p:nvSpPr>
        <p:spPr>
          <a:xfrm>
            <a:off x="3276600" y="4433888"/>
            <a:ext cx="8915400" cy="1862137"/>
          </a:xfrm>
        </p:spPr>
        <p:txBody>
          <a:bodyPr>
            <a:normAutofit/>
          </a:bodyPr>
          <a:lstStyle/>
          <a:p>
            <a:pPr marL="0" indent="0">
              <a:spcBef>
                <a:spcPts val="0"/>
              </a:spcBef>
              <a:buNone/>
            </a:pPr>
            <a:r>
              <a:rPr lang="fr-FR" sz="2400" dirty="0"/>
              <a:t>SD BUT 3 R5.VCOD.07</a:t>
            </a:r>
          </a:p>
          <a:p>
            <a:pPr marL="0" indent="0">
              <a:spcBef>
                <a:spcPts val="0"/>
              </a:spcBef>
              <a:buNone/>
            </a:pPr>
            <a:endParaRPr lang="fr-FR" sz="2400" dirty="0"/>
          </a:p>
          <a:p>
            <a:pPr marL="0" indent="0">
              <a:spcBef>
                <a:spcPts val="0"/>
              </a:spcBef>
              <a:buNone/>
            </a:pPr>
            <a:endParaRPr lang="fr-FR" sz="2400" dirty="0"/>
          </a:p>
          <a:p>
            <a:pPr marL="0" indent="0">
              <a:spcBef>
                <a:spcPts val="0"/>
              </a:spcBef>
              <a:buNone/>
            </a:pPr>
            <a:r>
              <a:rPr lang="fr-FR" sz="2400" dirty="0"/>
              <a:t>2023-2024</a:t>
            </a:r>
          </a:p>
        </p:txBody>
      </p:sp>
      <p:sp>
        <p:nvSpPr>
          <p:cNvPr id="5" name="Sous-titre 2"/>
          <p:cNvSpPr txBox="1">
            <a:spLocks/>
          </p:cNvSpPr>
          <p:nvPr/>
        </p:nvSpPr>
        <p:spPr>
          <a:xfrm>
            <a:off x="9620870" y="6284663"/>
            <a:ext cx="2518742" cy="586038"/>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algn="r">
              <a:spcBef>
                <a:spcPts val="0"/>
              </a:spcBef>
            </a:pPr>
            <a:endParaRPr lang="fr-FR" dirty="0"/>
          </a:p>
        </p:txBody>
      </p:sp>
    </p:spTree>
    <p:extLst>
      <p:ext uri="{BB962C8B-B14F-4D97-AF65-F5344CB8AC3E}">
        <p14:creationId xmlns:p14="http://schemas.microsoft.com/office/powerpoint/2010/main" val="498028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81B12330-86B8-E565-58A0-BA2465A547E8}"/>
              </a:ext>
            </a:extLst>
          </p:cNvPr>
          <p:cNvSpPr/>
          <p:nvPr/>
        </p:nvSpPr>
        <p:spPr>
          <a:xfrm>
            <a:off x="832320" y="2034536"/>
            <a:ext cx="2043113" cy="592931"/>
          </a:xfrm>
          <a:prstGeom prst="ellipse">
            <a:avLst/>
          </a:prstGeom>
          <a:solidFill>
            <a:srgbClr val="009BB9"/>
          </a:solidFill>
          <a:ln>
            <a:solidFill>
              <a:srgbClr val="009B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57" name="CustomShape 1"/>
          <p:cNvSpPr/>
          <p:nvPr/>
        </p:nvSpPr>
        <p:spPr>
          <a:xfrm>
            <a:off x="838080" y="441360"/>
            <a:ext cx="10514520" cy="548280"/>
          </a:xfrm>
          <a:prstGeom prst="rect">
            <a:avLst/>
          </a:prstGeom>
          <a:noFill/>
          <a:ln>
            <a:noFill/>
          </a:ln>
        </p:spPr>
        <p:style>
          <a:lnRef idx="0">
            <a:scrgbClr r="0" g="0" b="0"/>
          </a:lnRef>
          <a:fillRef idx="0">
            <a:scrgbClr r="0" g="0" b="0"/>
          </a:fillRef>
          <a:effectRef idx="0">
            <a:scrgbClr r="0" g="0" b="0"/>
          </a:effectRef>
          <a:fontRef idx="minor"/>
        </p:style>
        <p:txBody>
          <a:bodyPr/>
          <a:lstStyle/>
          <a:p>
            <a:endParaRPr lang="fr-FR"/>
          </a:p>
        </p:txBody>
      </p:sp>
      <p:sp>
        <p:nvSpPr>
          <p:cNvPr id="258" name="CustomShape 2"/>
          <p:cNvSpPr/>
          <p:nvPr/>
        </p:nvSpPr>
        <p:spPr>
          <a:xfrm>
            <a:off x="832320" y="586721"/>
            <a:ext cx="10514880" cy="1206000"/>
          </a:xfrm>
          <a:prstGeom prst="rect">
            <a:avLst/>
          </a:prstGeom>
          <a:solidFill>
            <a:srgbClr val="009BB9"/>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fr-FR" sz="4000" b="0" strike="noStrike" spc="-1" dirty="0">
                <a:solidFill>
                  <a:srgbClr val="FFFFFF"/>
                </a:solidFill>
                <a:latin typeface="Bebas Neue Bold"/>
              </a:rPr>
              <a:t>Organisation du cours</a:t>
            </a:r>
            <a:endParaRPr lang="fr-FR" sz="4000" b="0" strike="noStrike" spc="-1" dirty="0">
              <a:latin typeface="Arial"/>
            </a:endParaRPr>
          </a:p>
        </p:txBody>
      </p:sp>
      <p:sp>
        <p:nvSpPr>
          <p:cNvPr id="4" name="ZoneTexte 3">
            <a:extLst>
              <a:ext uri="{FF2B5EF4-FFF2-40B4-BE49-F238E27FC236}">
                <a16:creationId xmlns:a16="http://schemas.microsoft.com/office/drawing/2014/main" id="{14FE3B4D-EC2E-D191-6EC4-7F22ADCD69B0}"/>
              </a:ext>
            </a:extLst>
          </p:cNvPr>
          <p:cNvSpPr txBox="1"/>
          <p:nvPr/>
        </p:nvSpPr>
        <p:spPr>
          <a:xfrm>
            <a:off x="3209060" y="1704362"/>
            <a:ext cx="7665128" cy="4784451"/>
          </a:xfrm>
          <a:prstGeom prst="rect">
            <a:avLst/>
          </a:prstGeom>
          <a:noFill/>
        </p:spPr>
        <p:txBody>
          <a:bodyPr wrap="square" rtlCol="0">
            <a:spAutoFit/>
          </a:bodyPr>
          <a:lstStyle/>
          <a:p>
            <a:pPr marL="285750" indent="-285750">
              <a:lnSpc>
                <a:spcPct val="150000"/>
              </a:lnSpc>
              <a:buClr>
                <a:srgbClr val="009BB9"/>
              </a:buClr>
              <a:buFont typeface="Arial" panose="020B0604020202020204" pitchFamily="34" charset="0"/>
              <a:buChar char="•"/>
            </a:pPr>
            <a:r>
              <a:rPr lang="fr-FR" sz="1100" dirty="0">
                <a:solidFill>
                  <a:srgbClr val="009BB9"/>
                </a:solidFill>
              </a:rPr>
              <a:t>Partie 1 : </a:t>
            </a:r>
            <a:r>
              <a:rPr lang="fr-FR" sz="1100" dirty="0"/>
              <a:t>Approfondissement Javascript</a:t>
            </a:r>
          </a:p>
          <a:p>
            <a:pPr marL="1200150" lvl="2" indent="-285750">
              <a:lnSpc>
                <a:spcPct val="150000"/>
              </a:lnSpc>
              <a:buClr>
                <a:srgbClr val="009BB9"/>
              </a:buClr>
              <a:buFont typeface="Arial" panose="020B0604020202020204" pitchFamily="34" charset="0"/>
              <a:buChar char="•"/>
            </a:pPr>
            <a:r>
              <a:rPr lang="fr-FR" sz="1100" dirty="0"/>
              <a:t>Programmation Objet en JS</a:t>
            </a:r>
          </a:p>
          <a:p>
            <a:pPr marL="1200150" lvl="2" indent="-285750">
              <a:lnSpc>
                <a:spcPct val="150000"/>
              </a:lnSpc>
              <a:buClr>
                <a:srgbClr val="009BB9"/>
              </a:buClr>
              <a:buFont typeface="Arial" panose="020B0604020202020204" pitchFamily="34" charset="0"/>
              <a:buChar char="•"/>
            </a:pPr>
            <a:r>
              <a:rPr lang="fr-FR" sz="1100" dirty="0"/>
              <a:t>Structuration des pages Web (DOM)</a:t>
            </a:r>
          </a:p>
          <a:p>
            <a:pPr marL="285750" indent="-285750">
              <a:lnSpc>
                <a:spcPct val="150000"/>
              </a:lnSpc>
              <a:buClr>
                <a:srgbClr val="009BB9"/>
              </a:buClr>
              <a:buFont typeface="Arial" panose="020B0604020202020204" pitchFamily="34" charset="0"/>
              <a:buChar char="•"/>
            </a:pPr>
            <a:r>
              <a:rPr lang="fr-FR" sz="1100" dirty="0">
                <a:solidFill>
                  <a:srgbClr val="009BB9"/>
                </a:solidFill>
              </a:rPr>
              <a:t>Partie 2 : </a:t>
            </a:r>
            <a:r>
              <a:rPr lang="fr-FR" sz="1100" dirty="0"/>
              <a:t>Traitement des données </a:t>
            </a:r>
            <a:r>
              <a:rPr lang="fr-FR" sz="1100" dirty="0" err="1"/>
              <a:t>Json</a:t>
            </a:r>
            <a:endParaRPr lang="fr-FR" sz="1100" dirty="0"/>
          </a:p>
          <a:p>
            <a:pPr marL="1200150" lvl="2" indent="-285750">
              <a:lnSpc>
                <a:spcPct val="150000"/>
              </a:lnSpc>
              <a:buClr>
                <a:srgbClr val="009BB9"/>
              </a:buClr>
              <a:buFont typeface="Arial" panose="020B0604020202020204" pitchFamily="34" charset="0"/>
              <a:buChar char="•"/>
            </a:pPr>
            <a:r>
              <a:rPr lang="fr-FR" sz="1100" dirty="0"/>
              <a:t>Les formats de transfert données XML, </a:t>
            </a:r>
            <a:r>
              <a:rPr lang="fr-FR" sz="1100" dirty="0" err="1"/>
              <a:t>Json</a:t>
            </a:r>
            <a:r>
              <a:rPr lang="fr-FR" sz="1100" dirty="0"/>
              <a:t>...</a:t>
            </a:r>
          </a:p>
          <a:p>
            <a:pPr marL="1200150" lvl="2" indent="-285750">
              <a:lnSpc>
                <a:spcPct val="150000"/>
              </a:lnSpc>
              <a:buClr>
                <a:srgbClr val="009BB9"/>
              </a:buClr>
              <a:buFont typeface="Arial" panose="020B0604020202020204" pitchFamily="34" charset="0"/>
              <a:buChar char="•"/>
            </a:pPr>
            <a:r>
              <a:rPr lang="fr-FR" sz="1100" dirty="0"/>
              <a:t>Automatisation du traitement des données avec </a:t>
            </a:r>
            <a:r>
              <a:rPr lang="fr-FR" sz="1100" dirty="0" err="1"/>
              <a:t>Json</a:t>
            </a:r>
            <a:endParaRPr lang="fr-FR" sz="1100" dirty="0"/>
          </a:p>
          <a:p>
            <a:pPr marL="1200150" lvl="2" indent="-285750">
              <a:lnSpc>
                <a:spcPct val="150000"/>
              </a:lnSpc>
              <a:buClr>
                <a:srgbClr val="009BB9"/>
              </a:buClr>
              <a:buFont typeface="Arial" panose="020B0604020202020204" pitchFamily="34" charset="0"/>
              <a:buChar char="•"/>
            </a:pPr>
            <a:r>
              <a:rPr lang="fr-FR" sz="1100" dirty="0"/>
              <a:t>Exploitation des données en JS</a:t>
            </a:r>
          </a:p>
          <a:p>
            <a:pPr marL="285750" indent="-285750">
              <a:lnSpc>
                <a:spcPct val="150000"/>
              </a:lnSpc>
              <a:buClr>
                <a:srgbClr val="009BB9"/>
              </a:buClr>
              <a:buFont typeface="Arial" panose="020B0604020202020204" pitchFamily="34" charset="0"/>
              <a:buChar char="•"/>
            </a:pPr>
            <a:r>
              <a:rPr lang="fr-FR" sz="1100" b="1" dirty="0">
                <a:solidFill>
                  <a:srgbClr val="009BB9"/>
                </a:solidFill>
              </a:rPr>
              <a:t>Partie 3 : </a:t>
            </a:r>
            <a:r>
              <a:rPr lang="fr-FR" sz="1100" b="1" dirty="0"/>
              <a:t>Visualisation avec D3.js</a:t>
            </a:r>
          </a:p>
          <a:p>
            <a:pPr marL="1200150" lvl="2" indent="-285750">
              <a:lnSpc>
                <a:spcPct val="150000"/>
              </a:lnSpc>
              <a:buClr>
                <a:srgbClr val="009BB9"/>
              </a:buClr>
              <a:buFont typeface="Arial" panose="020B0604020202020204" pitchFamily="34" charset="0"/>
              <a:buChar char="•"/>
            </a:pPr>
            <a:r>
              <a:rPr lang="fr-FR" sz="1100" dirty="0"/>
              <a:t>Les graphiques en html : </a:t>
            </a:r>
            <a:r>
              <a:rPr lang="fr-FR" sz="1100" dirty="0" err="1"/>
              <a:t>canvas</a:t>
            </a:r>
            <a:r>
              <a:rPr lang="fr-FR" sz="1100" dirty="0"/>
              <a:t> &amp; SVG</a:t>
            </a:r>
          </a:p>
          <a:p>
            <a:pPr marL="1200150" lvl="2" indent="-285750">
              <a:lnSpc>
                <a:spcPct val="150000"/>
              </a:lnSpc>
              <a:buClr>
                <a:srgbClr val="009BB9"/>
              </a:buClr>
              <a:buFont typeface="Arial" panose="020B0604020202020204" pitchFamily="34" charset="0"/>
              <a:buChar char="•"/>
            </a:pPr>
            <a:r>
              <a:rPr lang="fr-FR" sz="1100" dirty="0"/>
              <a:t>La librairie D3.js pour la visualisation</a:t>
            </a:r>
          </a:p>
          <a:p>
            <a:pPr marL="1200150" lvl="2" indent="-285750">
              <a:lnSpc>
                <a:spcPct val="150000"/>
              </a:lnSpc>
              <a:buClr>
                <a:srgbClr val="009BB9"/>
              </a:buClr>
              <a:buFont typeface="Arial" panose="020B0604020202020204" pitchFamily="34" charset="0"/>
              <a:buChar char="•"/>
            </a:pPr>
            <a:r>
              <a:rPr lang="fr-FR" sz="1100" dirty="0"/>
              <a:t>Exemples de graphiques avec D3.js</a:t>
            </a:r>
          </a:p>
          <a:p>
            <a:pPr marL="285750" indent="-285750">
              <a:lnSpc>
                <a:spcPct val="150000"/>
              </a:lnSpc>
              <a:buClr>
                <a:srgbClr val="009BB9"/>
              </a:buClr>
              <a:buFont typeface="Arial" panose="020B0604020202020204" pitchFamily="34" charset="0"/>
              <a:buChar char="•"/>
            </a:pPr>
            <a:r>
              <a:rPr lang="fr-FR" sz="1400" b="1" dirty="0">
                <a:solidFill>
                  <a:srgbClr val="009BB9"/>
                </a:solidFill>
              </a:rPr>
              <a:t>Partie 4 : </a:t>
            </a:r>
            <a:r>
              <a:rPr lang="fr-FR" sz="1400" b="1" dirty="0"/>
              <a:t>Le javascript côté serveur</a:t>
            </a:r>
          </a:p>
          <a:p>
            <a:pPr marL="1200150" lvl="2" indent="-285750">
              <a:lnSpc>
                <a:spcPct val="150000"/>
              </a:lnSpc>
              <a:buClr>
                <a:srgbClr val="009BB9"/>
              </a:buClr>
              <a:buFont typeface="Arial" panose="020B0604020202020204" pitchFamily="34" charset="0"/>
              <a:buChar char="•"/>
            </a:pPr>
            <a:r>
              <a:rPr lang="fr-FR" sz="1400" dirty="0"/>
              <a:t>Découverte de la plateforme </a:t>
            </a:r>
            <a:r>
              <a:rPr lang="fr-FR" sz="1400" dirty="0" err="1"/>
              <a:t>NodeJS</a:t>
            </a:r>
            <a:endParaRPr lang="fr-FR" sz="1400" dirty="0"/>
          </a:p>
          <a:p>
            <a:pPr marL="1200150" lvl="2" indent="-285750">
              <a:lnSpc>
                <a:spcPct val="150000"/>
              </a:lnSpc>
              <a:buClr>
                <a:srgbClr val="009BB9"/>
              </a:buClr>
              <a:buFont typeface="Arial" panose="020B0604020202020204" pitchFamily="34" charset="0"/>
              <a:buChar char="•"/>
            </a:pPr>
            <a:r>
              <a:rPr lang="fr-FR" sz="1400" dirty="0"/>
              <a:t>Interaction avec une base de données</a:t>
            </a:r>
          </a:p>
          <a:p>
            <a:pPr marL="1200150" lvl="2" indent="-285750">
              <a:lnSpc>
                <a:spcPct val="150000"/>
              </a:lnSpc>
              <a:buClr>
                <a:srgbClr val="009BB9"/>
              </a:buClr>
              <a:buFont typeface="Arial" panose="020B0604020202020204" pitchFamily="34" charset="0"/>
              <a:buChar char="•"/>
            </a:pPr>
            <a:r>
              <a:rPr lang="fr-FR" sz="1400" dirty="0"/>
              <a:t>Développement d’une application web avec le Framework </a:t>
            </a:r>
            <a:r>
              <a:rPr lang="en-US" sz="1400" b="1" dirty="0"/>
              <a:t>Express.js</a:t>
            </a:r>
          </a:p>
          <a:p>
            <a:pPr marL="1200150" lvl="2" indent="-285750">
              <a:lnSpc>
                <a:spcPct val="150000"/>
              </a:lnSpc>
              <a:buClr>
                <a:srgbClr val="009BB9"/>
              </a:buClr>
              <a:buFont typeface="Arial" panose="020B0604020202020204" pitchFamily="34" charset="0"/>
              <a:buChar char="•"/>
            </a:pPr>
            <a:r>
              <a:rPr lang="fr-FR" sz="1400" dirty="0"/>
              <a:t>API REST</a:t>
            </a:r>
            <a:endParaRPr lang="en-US" sz="1400" b="1" dirty="0"/>
          </a:p>
          <a:p>
            <a:pPr marL="1200150" lvl="2" indent="-285750">
              <a:lnSpc>
                <a:spcPct val="150000"/>
              </a:lnSpc>
              <a:buClr>
                <a:srgbClr val="009BB9"/>
              </a:buClr>
              <a:buFont typeface="Arial" panose="020B0604020202020204" pitchFamily="34" charset="0"/>
              <a:buChar char="•"/>
            </a:pPr>
            <a:r>
              <a:rPr lang="fr-FR" sz="1400" dirty="0"/>
              <a:t>Exemple pratique </a:t>
            </a:r>
          </a:p>
        </p:txBody>
      </p:sp>
      <p:sp>
        <p:nvSpPr>
          <p:cNvPr id="2" name="ZoneTexte 1">
            <a:extLst>
              <a:ext uri="{FF2B5EF4-FFF2-40B4-BE49-F238E27FC236}">
                <a16:creationId xmlns:a16="http://schemas.microsoft.com/office/drawing/2014/main" id="{0DF01E17-B390-5CE4-AE3A-2C898C80E2C3}"/>
              </a:ext>
            </a:extLst>
          </p:cNvPr>
          <p:cNvSpPr txBox="1"/>
          <p:nvPr/>
        </p:nvSpPr>
        <p:spPr>
          <a:xfrm>
            <a:off x="1014559" y="2146155"/>
            <a:ext cx="1860874" cy="400110"/>
          </a:xfrm>
          <a:prstGeom prst="rect">
            <a:avLst/>
          </a:prstGeom>
          <a:noFill/>
        </p:spPr>
        <p:txBody>
          <a:bodyPr wrap="square" rtlCol="0">
            <a:spAutoFit/>
          </a:bodyPr>
          <a:lstStyle/>
          <a:p>
            <a:pPr>
              <a:buClr>
                <a:srgbClr val="0070C0"/>
              </a:buClr>
            </a:pPr>
            <a:r>
              <a:rPr lang="fr-FR" sz="2000" b="1" dirty="0">
                <a:solidFill>
                  <a:schemeClr val="bg1"/>
                </a:solidFill>
              </a:rPr>
              <a:t>7 TD et 10 TP</a:t>
            </a:r>
          </a:p>
        </p:txBody>
      </p:sp>
    </p:spTree>
    <p:extLst>
      <p:ext uri="{BB962C8B-B14F-4D97-AF65-F5344CB8AC3E}">
        <p14:creationId xmlns:p14="http://schemas.microsoft.com/office/powerpoint/2010/main" val="11792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CustomShape 1"/>
          <p:cNvSpPr/>
          <p:nvPr/>
        </p:nvSpPr>
        <p:spPr>
          <a:xfrm>
            <a:off x="838080" y="441360"/>
            <a:ext cx="10514520" cy="548280"/>
          </a:xfrm>
          <a:prstGeom prst="rect">
            <a:avLst/>
          </a:prstGeom>
          <a:noFill/>
          <a:ln>
            <a:noFill/>
          </a:ln>
        </p:spPr>
        <p:style>
          <a:lnRef idx="0">
            <a:scrgbClr r="0" g="0" b="0"/>
          </a:lnRef>
          <a:fillRef idx="0">
            <a:scrgbClr r="0" g="0" b="0"/>
          </a:fillRef>
          <a:effectRef idx="0">
            <a:scrgbClr r="0" g="0" b="0"/>
          </a:effectRef>
          <a:fontRef idx="minor"/>
        </p:style>
        <p:txBody>
          <a:bodyPr/>
          <a:lstStyle/>
          <a:p>
            <a:endParaRPr lang="fr-FR"/>
          </a:p>
        </p:txBody>
      </p:sp>
      <p:sp>
        <p:nvSpPr>
          <p:cNvPr id="258" name="CustomShape 2"/>
          <p:cNvSpPr/>
          <p:nvPr/>
        </p:nvSpPr>
        <p:spPr>
          <a:xfrm>
            <a:off x="934733" y="2000090"/>
            <a:ext cx="10514880" cy="1206000"/>
          </a:xfrm>
          <a:prstGeom prst="rect">
            <a:avLst/>
          </a:prstGeom>
          <a:solidFill>
            <a:srgbClr val="009BB9"/>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fr-FR" sz="4000" b="0" strike="noStrike" spc="-1" dirty="0">
                <a:solidFill>
                  <a:srgbClr val="FFFFFF"/>
                </a:solidFill>
                <a:latin typeface="Bebas Neue Bold"/>
              </a:rPr>
              <a:t>PARTIE 4 : </a:t>
            </a:r>
            <a:r>
              <a:rPr lang="fr-FR" sz="4000" spc="-1" dirty="0">
                <a:solidFill>
                  <a:srgbClr val="FFFFFF"/>
                </a:solidFill>
                <a:latin typeface="Bebas Neue Bold"/>
              </a:rPr>
              <a:t>Javascript coté serveur</a:t>
            </a:r>
            <a:endParaRPr lang="fr-FR" sz="4000" b="0" strike="noStrike" spc="-1" dirty="0">
              <a:latin typeface="Arial"/>
            </a:endParaRPr>
          </a:p>
        </p:txBody>
      </p:sp>
      <p:sp>
        <p:nvSpPr>
          <p:cNvPr id="2" name="ZoneTexte 1">
            <a:extLst>
              <a:ext uri="{FF2B5EF4-FFF2-40B4-BE49-F238E27FC236}">
                <a16:creationId xmlns:a16="http://schemas.microsoft.com/office/drawing/2014/main" id="{5669D9A7-59D4-185C-70B2-0621AA290BA0}"/>
              </a:ext>
            </a:extLst>
          </p:cNvPr>
          <p:cNvSpPr txBox="1"/>
          <p:nvPr/>
        </p:nvSpPr>
        <p:spPr>
          <a:xfrm>
            <a:off x="1025014" y="3650412"/>
            <a:ext cx="2672526" cy="646331"/>
          </a:xfrm>
          <a:prstGeom prst="rect">
            <a:avLst/>
          </a:prstGeom>
          <a:noFill/>
        </p:spPr>
        <p:txBody>
          <a:bodyPr wrap="none" rtlCol="0">
            <a:spAutoFit/>
          </a:bodyPr>
          <a:lstStyle/>
          <a:p>
            <a:r>
              <a:rPr lang="fr-FR" sz="3600" b="1" dirty="0">
                <a:solidFill>
                  <a:srgbClr val="009BB9"/>
                </a:solidFill>
              </a:rPr>
              <a:t>3.1 </a:t>
            </a:r>
            <a:r>
              <a:rPr lang="fr-FR" sz="3600" b="1" dirty="0" err="1">
                <a:solidFill>
                  <a:srgbClr val="009BB9"/>
                </a:solidFill>
              </a:rPr>
              <a:t>NodeJS</a:t>
            </a:r>
            <a:endParaRPr lang="fr-FR" sz="3600" b="1" dirty="0">
              <a:solidFill>
                <a:srgbClr val="009BB9"/>
              </a:solidFill>
            </a:endParaRPr>
          </a:p>
        </p:txBody>
      </p:sp>
    </p:spTree>
    <p:extLst>
      <p:ext uri="{BB962C8B-B14F-4D97-AF65-F5344CB8AC3E}">
        <p14:creationId xmlns:p14="http://schemas.microsoft.com/office/powerpoint/2010/main" val="3267154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Ce que nous faisons jusqu’à présent</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r>
              <a:rPr lang="fr-FR" dirty="0"/>
              <a:t>Développement Frontend</a:t>
            </a:r>
          </a:p>
          <a:p>
            <a:pPr lvl="1"/>
            <a:r>
              <a:rPr lang="fr-FR" dirty="0"/>
              <a:t>Focus sur la partie visible d’une application </a:t>
            </a:r>
          </a:p>
          <a:p>
            <a:endParaRPr lang="fr-FR" dirty="0"/>
          </a:p>
          <a:p>
            <a:r>
              <a:rPr lang="fr-FR" dirty="0"/>
              <a:t>Développement de code qui s’exécute que coté client</a:t>
            </a:r>
          </a:p>
          <a:p>
            <a:pPr lvl="1"/>
            <a:r>
              <a:rPr lang="fr-FR" dirty="0"/>
              <a:t>Dans un navigateur (chrome et </a:t>
            </a:r>
            <a:r>
              <a:rPr lang="fr-FR" dirty="0" err="1"/>
              <a:t>firefox</a:t>
            </a:r>
            <a:r>
              <a:rPr lang="fr-FR" dirty="0"/>
              <a:t>)</a:t>
            </a:r>
          </a:p>
          <a:p>
            <a:pPr lvl="1"/>
            <a:endParaRPr lang="fr-FR" dirty="0"/>
          </a:p>
          <a:p>
            <a:endParaRPr lang="en-US" dirty="0"/>
          </a:p>
          <a:p>
            <a:pPr marL="0" indent="0">
              <a:buNone/>
            </a:pPr>
            <a:endParaRPr lang="en-US" dirty="0"/>
          </a:p>
        </p:txBody>
      </p:sp>
      <p:pic>
        <p:nvPicPr>
          <p:cNvPr id="8" name="Graphique 7" descr="Fenêtre de navigateur contour">
            <a:extLst>
              <a:ext uri="{FF2B5EF4-FFF2-40B4-BE49-F238E27FC236}">
                <a16:creationId xmlns:a16="http://schemas.microsoft.com/office/drawing/2014/main" id="{FA6CFB13-BCA8-CD1B-0584-27663384EC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39598" y="2949389"/>
            <a:ext cx="3599938" cy="3599938"/>
          </a:xfrm>
          <a:prstGeom prst="rect">
            <a:avLst/>
          </a:prstGeom>
        </p:spPr>
      </p:pic>
      <p:pic>
        <p:nvPicPr>
          <p:cNvPr id="11" name="Graphique 10" descr="Programmeur contour">
            <a:extLst>
              <a:ext uri="{FF2B5EF4-FFF2-40B4-BE49-F238E27FC236}">
                <a16:creationId xmlns:a16="http://schemas.microsoft.com/office/drawing/2014/main" id="{3EBFE713-526D-0CC7-C577-EF4A56A58D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4052" y="4191483"/>
            <a:ext cx="1539925" cy="1539925"/>
          </a:xfrm>
          <a:prstGeom prst="rect">
            <a:avLst/>
          </a:prstGeom>
        </p:spPr>
      </p:pic>
      <p:sp>
        <p:nvSpPr>
          <p:cNvPr id="16" name="ZoneTexte 15">
            <a:extLst>
              <a:ext uri="{FF2B5EF4-FFF2-40B4-BE49-F238E27FC236}">
                <a16:creationId xmlns:a16="http://schemas.microsoft.com/office/drawing/2014/main" id="{44686A16-4EE6-34C4-C11A-FA48E313E8C5}"/>
              </a:ext>
            </a:extLst>
          </p:cNvPr>
          <p:cNvSpPr txBox="1"/>
          <p:nvPr/>
        </p:nvSpPr>
        <p:spPr>
          <a:xfrm>
            <a:off x="5011269" y="3822151"/>
            <a:ext cx="1864660" cy="369332"/>
          </a:xfrm>
          <a:prstGeom prst="rect">
            <a:avLst/>
          </a:prstGeom>
          <a:noFill/>
        </p:spPr>
        <p:txBody>
          <a:bodyPr wrap="square" rtlCol="0">
            <a:spAutoFit/>
          </a:bodyPr>
          <a:lstStyle/>
          <a:p>
            <a:r>
              <a:rPr lang="en-US" dirty="0" err="1"/>
              <a:t>Navigateur</a:t>
            </a:r>
            <a:r>
              <a:rPr lang="en-US" dirty="0"/>
              <a:t> web</a:t>
            </a:r>
          </a:p>
        </p:txBody>
      </p:sp>
    </p:spTree>
    <p:extLst>
      <p:ext uri="{BB962C8B-B14F-4D97-AF65-F5344CB8AC3E}">
        <p14:creationId xmlns:p14="http://schemas.microsoft.com/office/powerpoint/2010/main" val="4127569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Ce que nous faisons jusqu’à présent</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r>
              <a:rPr lang="fr-FR" dirty="0"/>
              <a:t>Ce que nous faisons la plupart du temps</a:t>
            </a:r>
          </a:p>
          <a:p>
            <a:pPr lvl="1"/>
            <a:r>
              <a:rPr lang="fr-FR" dirty="0"/>
              <a:t>interagir avec le DOM</a:t>
            </a:r>
          </a:p>
          <a:p>
            <a:pPr lvl="2"/>
            <a:r>
              <a:rPr lang="fr-FR" dirty="0"/>
              <a:t>Manipulation de « document » et « Windows » </a:t>
            </a:r>
          </a:p>
          <a:p>
            <a:pPr lvl="2"/>
            <a:endParaRPr lang="fr-FR" dirty="0"/>
          </a:p>
          <a:p>
            <a:pPr lvl="2"/>
            <a:endParaRPr lang="fr-FR" dirty="0"/>
          </a:p>
          <a:p>
            <a:r>
              <a:rPr lang="fr-FR" sz="2400" dirty="0">
                <a:solidFill>
                  <a:schemeClr val="accent5"/>
                </a:solidFill>
              </a:rPr>
              <a:t>Mais pour une application web complète (</a:t>
            </a:r>
            <a:r>
              <a:rPr lang="fr-FR" sz="2400" b="1" dirty="0" err="1">
                <a:solidFill>
                  <a:schemeClr val="accent5"/>
                </a:solidFill>
              </a:rPr>
              <a:t>Fullstack</a:t>
            </a:r>
            <a:r>
              <a:rPr lang="fr-FR" sz="2400" dirty="0">
                <a:solidFill>
                  <a:schemeClr val="accent5"/>
                </a:solidFill>
              </a:rPr>
              <a:t>) on sera limitée :</a:t>
            </a:r>
          </a:p>
          <a:p>
            <a:pPr lvl="1"/>
            <a:r>
              <a:rPr lang="fr-FR" dirty="0">
                <a:solidFill>
                  <a:schemeClr val="accent5"/>
                </a:solidFill>
              </a:rPr>
              <a:t>Besoin de découvrir la partie cachée (</a:t>
            </a:r>
            <a:r>
              <a:rPr lang="fr-FR" b="1" dirty="0">
                <a:solidFill>
                  <a:schemeClr val="accent5"/>
                </a:solidFill>
              </a:rPr>
              <a:t>Backend</a:t>
            </a:r>
            <a:r>
              <a:rPr lang="fr-FR" dirty="0">
                <a:solidFill>
                  <a:schemeClr val="accent5"/>
                </a:solidFill>
              </a:rPr>
              <a:t>)</a:t>
            </a:r>
          </a:p>
          <a:p>
            <a:pPr lvl="1"/>
            <a:endParaRPr lang="fr-FR" dirty="0"/>
          </a:p>
          <a:p>
            <a:pPr marL="457200" lvl="1" indent="0">
              <a:buNone/>
            </a:pPr>
            <a:endParaRPr lang="fr-FR" dirty="0"/>
          </a:p>
          <a:p>
            <a:endParaRPr lang="en-US" dirty="0"/>
          </a:p>
          <a:p>
            <a:pPr marL="0" indent="0">
              <a:buNone/>
            </a:pPr>
            <a:endParaRPr lang="en-US" dirty="0"/>
          </a:p>
        </p:txBody>
      </p:sp>
    </p:spTree>
    <p:extLst>
      <p:ext uri="{BB962C8B-B14F-4D97-AF65-F5344CB8AC3E}">
        <p14:creationId xmlns:p14="http://schemas.microsoft.com/office/powerpoint/2010/main" val="1370516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Intérêt de prendre en compte le backend</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fontScale="92500"/>
          </a:bodyPr>
          <a:lstStyle/>
          <a:p>
            <a:r>
              <a:rPr lang="fr-FR" dirty="0"/>
              <a:t>Exemple du modèle client server</a:t>
            </a:r>
          </a:p>
          <a:p>
            <a:endParaRPr lang="fr-FR" dirty="0"/>
          </a:p>
          <a:p>
            <a:endParaRPr lang="fr-FR" dirty="0"/>
          </a:p>
          <a:p>
            <a:endParaRPr lang="fr-FR" dirty="0"/>
          </a:p>
          <a:p>
            <a:endParaRPr lang="fr-FR" dirty="0"/>
          </a:p>
          <a:p>
            <a:endParaRPr lang="fr-FR" dirty="0"/>
          </a:p>
          <a:p>
            <a:endParaRPr lang="fr-FR" dirty="0"/>
          </a:p>
          <a:p>
            <a:endParaRPr lang="fr-FR" dirty="0"/>
          </a:p>
          <a:p>
            <a:r>
              <a:rPr lang="fr-FR" dirty="0"/>
              <a:t>Accès à la base de données pour stocké et utiliser les données</a:t>
            </a:r>
          </a:p>
          <a:p>
            <a:pPr lvl="1"/>
            <a:r>
              <a:rPr lang="fr-FR" dirty="0"/>
              <a:t>Exemple: information de login  IUT, commande Amazone, Progression call of Duty</a:t>
            </a:r>
          </a:p>
          <a:p>
            <a:pPr marL="457200" lvl="1" indent="0">
              <a:buNone/>
            </a:pPr>
            <a:endParaRPr lang="fr-FR" dirty="0"/>
          </a:p>
          <a:p>
            <a:pPr marL="457200" lvl="1" indent="0">
              <a:buNone/>
            </a:pPr>
            <a:endParaRPr lang="fr-FR" dirty="0"/>
          </a:p>
          <a:p>
            <a:endParaRPr lang="en-US" dirty="0"/>
          </a:p>
          <a:p>
            <a:pPr marL="0" indent="0">
              <a:buNone/>
            </a:pPr>
            <a:endParaRPr lang="en-US" dirty="0"/>
          </a:p>
        </p:txBody>
      </p:sp>
      <p:pic>
        <p:nvPicPr>
          <p:cNvPr id="4" name="Image 3">
            <a:extLst>
              <a:ext uri="{FF2B5EF4-FFF2-40B4-BE49-F238E27FC236}">
                <a16:creationId xmlns:a16="http://schemas.microsoft.com/office/drawing/2014/main" id="{C7B33713-E5E2-66A8-42C7-D9AECF612BD9}"/>
              </a:ext>
            </a:extLst>
          </p:cNvPr>
          <p:cNvPicPr>
            <a:picLocks noChangeAspect="1"/>
          </p:cNvPicPr>
          <p:nvPr/>
        </p:nvPicPr>
        <p:blipFill>
          <a:blip r:embed="rId2"/>
          <a:stretch>
            <a:fillRect/>
          </a:stretch>
        </p:blipFill>
        <p:spPr>
          <a:xfrm>
            <a:off x="2786079" y="1739152"/>
            <a:ext cx="6619241" cy="2680449"/>
          </a:xfrm>
          <a:prstGeom prst="rect">
            <a:avLst/>
          </a:prstGeom>
        </p:spPr>
      </p:pic>
      <p:sp>
        <p:nvSpPr>
          <p:cNvPr id="5" name="ZoneTexte 4">
            <a:extLst>
              <a:ext uri="{FF2B5EF4-FFF2-40B4-BE49-F238E27FC236}">
                <a16:creationId xmlns:a16="http://schemas.microsoft.com/office/drawing/2014/main" id="{87B6C07C-AD4D-CFE6-B3CF-D7215642AC26}"/>
              </a:ext>
            </a:extLst>
          </p:cNvPr>
          <p:cNvSpPr txBox="1"/>
          <p:nvPr/>
        </p:nvSpPr>
        <p:spPr>
          <a:xfrm>
            <a:off x="2489583" y="4419601"/>
            <a:ext cx="7212231" cy="369332"/>
          </a:xfrm>
          <a:prstGeom prst="rect">
            <a:avLst/>
          </a:prstGeom>
          <a:noFill/>
        </p:spPr>
        <p:txBody>
          <a:bodyPr wrap="none" rtlCol="0">
            <a:spAutoFit/>
          </a:bodyPr>
          <a:lstStyle/>
          <a:p>
            <a:r>
              <a:rPr lang="en-US" dirty="0"/>
              <a:t>https://darvishdarab.github.io/cs421_f20/docs/readings/client_server/</a:t>
            </a:r>
          </a:p>
        </p:txBody>
      </p:sp>
    </p:spTree>
    <p:extLst>
      <p:ext uri="{BB962C8B-B14F-4D97-AF65-F5344CB8AC3E}">
        <p14:creationId xmlns:p14="http://schemas.microsoft.com/office/powerpoint/2010/main" val="338149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Technologies Backend</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pPr marL="457200" lvl="1" indent="0">
              <a:buNone/>
            </a:pPr>
            <a:endParaRPr lang="fr-FR" dirty="0"/>
          </a:p>
          <a:p>
            <a:r>
              <a:rPr lang="fr-FR" dirty="0"/>
              <a:t>Très nombreuses</a:t>
            </a:r>
          </a:p>
          <a:p>
            <a:pPr lvl="1"/>
            <a:r>
              <a:rPr lang="fr-FR" dirty="0"/>
              <a:t>Filtre sur les technologies web</a:t>
            </a:r>
          </a:p>
          <a:p>
            <a:pPr lvl="2"/>
            <a:r>
              <a:rPr lang="fr-FR" dirty="0" err="1"/>
              <a:t>NodeJS</a:t>
            </a:r>
            <a:r>
              <a:rPr lang="fr-FR" dirty="0"/>
              <a:t>: javascript</a:t>
            </a:r>
          </a:p>
          <a:p>
            <a:pPr lvl="2"/>
            <a:r>
              <a:rPr lang="fr-FR" dirty="0" err="1"/>
              <a:t>SpringBoot</a:t>
            </a:r>
            <a:r>
              <a:rPr lang="fr-FR" dirty="0"/>
              <a:t>: java</a:t>
            </a:r>
          </a:p>
          <a:p>
            <a:pPr lvl="2"/>
            <a:r>
              <a:rPr lang="fr-FR" dirty="0" err="1"/>
              <a:t>ASP.Net</a:t>
            </a:r>
            <a:r>
              <a:rPr lang="fr-FR" dirty="0"/>
              <a:t>: C# </a:t>
            </a:r>
          </a:p>
          <a:p>
            <a:pPr lvl="2"/>
            <a:r>
              <a:rPr lang="fr-FR" dirty="0"/>
              <a:t>Django: Python </a:t>
            </a:r>
          </a:p>
          <a:p>
            <a:pPr lvl="2"/>
            <a:endParaRPr lang="fr-FR" dirty="0"/>
          </a:p>
          <a:p>
            <a:r>
              <a:rPr lang="fr-FR" dirty="0"/>
              <a:t>Nous restons dans l’univers Javascript </a:t>
            </a:r>
          </a:p>
          <a:p>
            <a:pPr lvl="1"/>
            <a:r>
              <a:rPr lang="fr-FR" dirty="0" err="1"/>
              <a:t>NodeJS</a:t>
            </a:r>
            <a:endParaRPr lang="fr-FR" dirty="0"/>
          </a:p>
          <a:p>
            <a:pPr marL="0" indent="0">
              <a:buNone/>
            </a:pPr>
            <a:endParaRPr lang="en-US" dirty="0"/>
          </a:p>
        </p:txBody>
      </p:sp>
    </p:spTree>
    <p:extLst>
      <p:ext uri="{BB962C8B-B14F-4D97-AF65-F5344CB8AC3E}">
        <p14:creationId xmlns:p14="http://schemas.microsoft.com/office/powerpoint/2010/main" val="4274576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pPr marL="457200" lvl="1" indent="0">
              <a:buNone/>
            </a:pPr>
            <a:endParaRPr lang="fr-FR" dirty="0"/>
          </a:p>
          <a:p>
            <a:r>
              <a:rPr lang="fr-FR" dirty="0"/>
              <a:t>Quoi:</a:t>
            </a:r>
          </a:p>
          <a:p>
            <a:pPr lvl="1"/>
            <a:r>
              <a:rPr lang="fr-FR" dirty="0"/>
              <a:t>un environnement d'exécution JavaScript open-source et multiplateforme.</a:t>
            </a:r>
          </a:p>
          <a:p>
            <a:pPr lvl="1"/>
            <a:endParaRPr lang="fr-FR" dirty="0"/>
          </a:p>
          <a:p>
            <a:r>
              <a:rPr lang="fr-FR" dirty="0"/>
              <a:t>Intérêt pratique:</a:t>
            </a:r>
          </a:p>
          <a:p>
            <a:pPr lvl="1"/>
            <a:r>
              <a:rPr lang="fr-FR" dirty="0"/>
              <a:t>Permet à un développeur frontend de faire du backend sans changer apprendre un nouveau langage </a:t>
            </a:r>
          </a:p>
          <a:p>
            <a:pPr marL="0" indent="0">
              <a:buNone/>
            </a:pPr>
            <a:endParaRPr lang="en-US" dirty="0"/>
          </a:p>
        </p:txBody>
      </p:sp>
    </p:spTree>
    <p:extLst>
      <p:ext uri="{BB962C8B-B14F-4D97-AF65-F5344CB8AC3E}">
        <p14:creationId xmlns:p14="http://schemas.microsoft.com/office/powerpoint/2010/main" val="2971192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r>
              <a:rPr lang="fr-FR" dirty="0"/>
              <a:t>Exemple d’application</a:t>
            </a:r>
          </a:p>
          <a:p>
            <a:pPr lvl="1"/>
            <a:r>
              <a:rPr lang="fr-FR" dirty="0"/>
              <a:t>Création d’un serveur http</a:t>
            </a:r>
          </a:p>
          <a:p>
            <a:pPr lvl="1"/>
            <a:r>
              <a:rPr lang="fr-FR" dirty="0"/>
              <a:t>Réception de requête http depuis un client web</a:t>
            </a:r>
          </a:p>
          <a:p>
            <a:pPr lvl="1"/>
            <a:r>
              <a:rPr lang="fr-FR" dirty="0"/>
              <a:t>Envoi de la réponse http au client</a:t>
            </a:r>
          </a:p>
          <a:p>
            <a:pPr marL="0" indent="0">
              <a:buNone/>
            </a:pPr>
            <a:endParaRPr lang="fr-FR" dirty="0"/>
          </a:p>
          <a:p>
            <a:pPr marL="0" indent="0">
              <a:buNone/>
            </a:pPr>
            <a:endParaRPr lang="en-US" dirty="0"/>
          </a:p>
        </p:txBody>
      </p:sp>
    </p:spTree>
    <p:extLst>
      <p:ext uri="{BB962C8B-B14F-4D97-AF65-F5344CB8AC3E}">
        <p14:creationId xmlns:p14="http://schemas.microsoft.com/office/powerpoint/2010/main" val="20078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r>
              <a:rPr lang="fr-FR" dirty="0"/>
              <a:t>Prérequis</a:t>
            </a:r>
          </a:p>
          <a:p>
            <a:pPr lvl="1"/>
            <a:r>
              <a:rPr lang="fr-FR" dirty="0"/>
              <a:t>Installer </a:t>
            </a:r>
            <a:r>
              <a:rPr lang="fr-FR" dirty="0" err="1"/>
              <a:t>NodeJS</a:t>
            </a:r>
            <a:r>
              <a:rPr lang="fr-FR" dirty="0"/>
              <a:t> sur vos postes en </a:t>
            </a:r>
            <a:r>
              <a:rPr lang="fr-FR" dirty="0" err="1"/>
              <a:t>excécutant</a:t>
            </a:r>
            <a:r>
              <a:rPr lang="fr-FR" dirty="0"/>
              <a:t> le fichier (.exe) fournit</a:t>
            </a:r>
          </a:p>
          <a:p>
            <a:pPr lvl="1"/>
            <a:r>
              <a:rPr lang="fr-FR" dirty="0"/>
              <a:t>Créer un dossier </a:t>
            </a:r>
            <a:r>
              <a:rPr lang="fr-FR" dirty="0" err="1"/>
              <a:t>ServerHttp</a:t>
            </a:r>
            <a:endParaRPr lang="fr-FR" dirty="0"/>
          </a:p>
          <a:p>
            <a:pPr lvl="1"/>
            <a:r>
              <a:rPr lang="fr-FR" dirty="0"/>
              <a:t>Ouvrez </a:t>
            </a:r>
            <a:r>
              <a:rPr lang="fr-FR" dirty="0" err="1"/>
              <a:t>VSCode</a:t>
            </a:r>
            <a:r>
              <a:rPr lang="fr-FR" dirty="0"/>
              <a:t> dans le dossier créer </a:t>
            </a:r>
          </a:p>
          <a:p>
            <a:pPr lvl="1"/>
            <a:endParaRPr lang="fr-FR" dirty="0"/>
          </a:p>
          <a:p>
            <a:r>
              <a:rPr lang="fr-FR" dirty="0"/>
              <a:t>Création du server</a:t>
            </a:r>
          </a:p>
          <a:p>
            <a:pPr lvl="1"/>
            <a:r>
              <a:rPr lang="fr-FR" dirty="0"/>
              <a:t>Créer un fichier server.js</a:t>
            </a:r>
          </a:p>
          <a:p>
            <a:pPr lvl="1"/>
            <a:r>
              <a:rPr lang="fr-FR" dirty="0"/>
              <a:t>Copier et coller y le code fournit</a:t>
            </a:r>
          </a:p>
          <a:p>
            <a:pPr marL="0" indent="0">
              <a:buNone/>
            </a:pPr>
            <a:endParaRPr lang="fr-FR" dirty="0"/>
          </a:p>
          <a:p>
            <a:pPr marL="0" indent="0">
              <a:buNone/>
            </a:pPr>
            <a:endParaRPr lang="en-US" dirty="0"/>
          </a:p>
        </p:txBody>
      </p:sp>
    </p:spTree>
    <p:extLst>
      <p:ext uri="{BB962C8B-B14F-4D97-AF65-F5344CB8AC3E}">
        <p14:creationId xmlns:p14="http://schemas.microsoft.com/office/powerpoint/2010/main" val="69979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r>
              <a:rPr lang="fr-FR" dirty="0"/>
              <a:t>Code création du server</a:t>
            </a:r>
          </a:p>
          <a:p>
            <a:endParaRPr lang="fr-FR" dirty="0"/>
          </a:p>
          <a:p>
            <a:pPr marL="0" indent="0">
              <a:buNone/>
            </a:pPr>
            <a:endParaRPr lang="fr-FR" dirty="0"/>
          </a:p>
          <a:p>
            <a:pPr marL="0" indent="0">
              <a:buNone/>
            </a:pPr>
            <a:endParaRPr lang="en-US" dirty="0"/>
          </a:p>
        </p:txBody>
      </p:sp>
      <p:sp>
        <p:nvSpPr>
          <p:cNvPr id="2" name="ZoneTexte 1">
            <a:extLst>
              <a:ext uri="{FF2B5EF4-FFF2-40B4-BE49-F238E27FC236}">
                <a16:creationId xmlns:a16="http://schemas.microsoft.com/office/drawing/2014/main" id="{1F51048F-7998-78C4-AE96-A4337F8AF058}"/>
              </a:ext>
            </a:extLst>
          </p:cNvPr>
          <p:cNvSpPr txBox="1"/>
          <p:nvPr/>
        </p:nvSpPr>
        <p:spPr>
          <a:xfrm>
            <a:off x="1283135" y="1675505"/>
            <a:ext cx="9958606" cy="4616648"/>
          </a:xfrm>
          <a:prstGeom prst="rect">
            <a:avLst/>
          </a:prstGeom>
          <a:noFill/>
        </p:spPr>
        <p:txBody>
          <a:bodyPr wrap="square" rtlCol="0">
            <a:spAutoFit/>
          </a:bodyPr>
          <a:lstStyle/>
          <a:p>
            <a:r>
              <a:rPr lang="fr-FR" sz="1400" b="0" dirty="0">
                <a:solidFill>
                  <a:srgbClr val="6A9955"/>
                </a:solidFill>
                <a:effectLst/>
                <a:latin typeface="Consolas" panose="020B0609020204030204" pitchFamily="49" charset="0"/>
              </a:rPr>
              <a:t>//On importe le module http</a:t>
            </a:r>
            <a:endParaRPr lang="fr-FR" sz="1400" b="0" dirty="0">
              <a:solidFill>
                <a:srgbClr val="CCCCCC"/>
              </a:solidFill>
              <a:effectLst/>
              <a:latin typeface="Consolas" panose="020B0609020204030204" pitchFamily="49" charset="0"/>
            </a:endParaRPr>
          </a:p>
          <a:p>
            <a:r>
              <a:rPr lang="fr-FR" sz="1400" b="0" dirty="0" err="1">
                <a:solidFill>
                  <a:srgbClr val="569CD6"/>
                </a:solidFill>
                <a:effectLst/>
                <a:latin typeface="Consolas" panose="020B0609020204030204" pitchFamily="49" charset="0"/>
              </a:rPr>
              <a:t>const</a:t>
            </a:r>
            <a:r>
              <a:rPr lang="fr-FR" sz="1400" b="0" dirty="0">
                <a:solidFill>
                  <a:srgbClr val="CCCCCC"/>
                </a:solidFill>
                <a:effectLst/>
                <a:latin typeface="Consolas" panose="020B0609020204030204" pitchFamily="49" charset="0"/>
              </a:rPr>
              <a:t> </a:t>
            </a:r>
            <a:r>
              <a:rPr lang="fr-FR" sz="1400" b="0" dirty="0">
                <a:solidFill>
                  <a:srgbClr val="4EC9B0"/>
                </a:solidFill>
                <a:effectLst/>
                <a:latin typeface="Consolas" panose="020B0609020204030204" pitchFamily="49" charset="0"/>
              </a:rPr>
              <a:t>http</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err="1">
                <a:solidFill>
                  <a:srgbClr val="DCDCAA"/>
                </a:solidFill>
                <a:effectLst/>
                <a:latin typeface="Consolas" panose="020B0609020204030204" pitchFamily="49" charset="0"/>
              </a:rPr>
              <a:t>require</a:t>
            </a:r>
            <a:r>
              <a:rPr lang="fr-FR" sz="1400" b="0" dirty="0">
                <a:solidFill>
                  <a:srgbClr val="CCCCCC"/>
                </a:solidFill>
                <a:effectLst/>
                <a:latin typeface="Consolas" panose="020B0609020204030204" pitchFamily="49" charset="0"/>
              </a:rPr>
              <a:t>(</a:t>
            </a:r>
            <a:r>
              <a:rPr lang="fr-FR" sz="1400" b="0" dirty="0">
                <a:solidFill>
                  <a:srgbClr val="CE9178"/>
                </a:solidFill>
                <a:effectLst/>
                <a:latin typeface="Consolas" panose="020B0609020204030204" pitchFamily="49" charset="0"/>
              </a:rPr>
              <a:t>'</a:t>
            </a:r>
            <a:r>
              <a:rPr lang="fr-FR" sz="1400" b="0" dirty="0" err="1">
                <a:solidFill>
                  <a:srgbClr val="CE9178"/>
                </a:solidFill>
                <a:effectLst/>
                <a:latin typeface="Consolas" panose="020B0609020204030204" pitchFamily="49" charset="0"/>
              </a:rPr>
              <a:t>node:http</a:t>
            </a:r>
            <a:r>
              <a:rPr lang="fr-FR" sz="1400" b="0" dirty="0">
                <a:solidFill>
                  <a:srgbClr val="CE9178"/>
                </a:solidFill>
                <a:effectLst/>
                <a:latin typeface="Consolas" panose="020B0609020204030204" pitchFamily="49" charset="0"/>
              </a:rPr>
              <a:t>'</a:t>
            </a:r>
            <a:r>
              <a:rPr lang="fr-FR" sz="1400" b="0" dirty="0">
                <a:solidFill>
                  <a:srgbClr val="CCCCCC"/>
                </a:solidFill>
                <a:effectLst/>
                <a:latin typeface="Consolas" panose="020B0609020204030204" pitchFamily="49" charset="0"/>
              </a:rPr>
              <a:t>);</a:t>
            </a:r>
          </a:p>
          <a:p>
            <a:br>
              <a:rPr lang="fr-FR" sz="1400" b="0" dirty="0">
                <a:solidFill>
                  <a:srgbClr val="CCCCCC"/>
                </a:solidFill>
                <a:effectLst/>
                <a:latin typeface="Consolas" panose="020B0609020204030204" pitchFamily="49" charset="0"/>
              </a:rPr>
            </a:br>
            <a:r>
              <a:rPr lang="fr-FR" sz="1400" b="0" dirty="0">
                <a:solidFill>
                  <a:srgbClr val="6A9955"/>
                </a:solidFill>
                <a:effectLst/>
                <a:latin typeface="Consolas" panose="020B0609020204030204" pitchFamily="49" charset="0"/>
              </a:rPr>
              <a:t>/*On spécifie la machine d'hébergement du server http (adresse IP) </a:t>
            </a:r>
            <a:endParaRPr lang="fr-FR" sz="1400" b="0" dirty="0">
              <a:solidFill>
                <a:srgbClr val="CCCCCC"/>
              </a:solidFill>
              <a:effectLst/>
              <a:latin typeface="Consolas" panose="020B0609020204030204" pitchFamily="49" charset="0"/>
            </a:endParaRPr>
          </a:p>
          <a:p>
            <a:r>
              <a:rPr lang="fr-FR" sz="1400" b="0" dirty="0">
                <a:solidFill>
                  <a:srgbClr val="6A9955"/>
                </a:solidFill>
                <a:effectLst/>
                <a:latin typeface="Consolas" panose="020B0609020204030204" pitchFamily="49" charset="0"/>
              </a:rPr>
              <a:t> *vous pouvez aussi donner le nom de la machine localhost, par exemple*/</a:t>
            </a:r>
            <a:endParaRPr lang="fr-FR" sz="1400" b="0" dirty="0">
              <a:solidFill>
                <a:srgbClr val="CCCCCC"/>
              </a:solidFill>
              <a:effectLst/>
              <a:latin typeface="Consolas" panose="020B0609020204030204" pitchFamily="49" charset="0"/>
            </a:endParaRPr>
          </a:p>
          <a:p>
            <a:r>
              <a:rPr lang="fr-FR" sz="1400" b="0" dirty="0" err="1">
                <a:solidFill>
                  <a:srgbClr val="569CD6"/>
                </a:solidFill>
                <a:effectLst/>
                <a:latin typeface="Consolas" panose="020B0609020204030204" pitchFamily="49" charset="0"/>
              </a:rPr>
              <a:t>const</a:t>
            </a:r>
            <a:r>
              <a:rPr lang="fr-FR" sz="1400" b="0" dirty="0">
                <a:solidFill>
                  <a:srgbClr val="CCCCCC"/>
                </a:solidFill>
                <a:effectLst/>
                <a:latin typeface="Consolas" panose="020B0609020204030204" pitchFamily="49" charset="0"/>
              </a:rPr>
              <a:t> </a:t>
            </a:r>
            <a:r>
              <a:rPr lang="fr-FR" sz="1400" b="0" dirty="0" err="1">
                <a:solidFill>
                  <a:srgbClr val="4FC1FF"/>
                </a:solidFill>
                <a:effectLst/>
                <a:latin typeface="Consolas" panose="020B0609020204030204" pitchFamily="49" charset="0"/>
              </a:rPr>
              <a:t>hostname</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CE9178"/>
                </a:solidFill>
                <a:effectLst/>
                <a:latin typeface="Consolas" panose="020B0609020204030204" pitchFamily="49" charset="0"/>
              </a:rPr>
              <a:t>'127.0.0.1'</a:t>
            </a:r>
            <a:r>
              <a:rPr lang="fr-FR" sz="1400" b="0" dirty="0">
                <a:solidFill>
                  <a:srgbClr val="CCCCCC"/>
                </a:solidFill>
                <a:effectLst/>
                <a:latin typeface="Consolas" panose="020B0609020204030204" pitchFamily="49" charset="0"/>
              </a:rPr>
              <a:t>;</a:t>
            </a:r>
          </a:p>
          <a:p>
            <a:r>
              <a:rPr lang="fr-FR" sz="1400" b="0" dirty="0">
                <a:solidFill>
                  <a:srgbClr val="6A9955"/>
                </a:solidFill>
                <a:effectLst/>
                <a:latin typeface="Consolas" panose="020B0609020204030204" pitchFamily="49" charset="0"/>
              </a:rPr>
              <a:t>//On spécifie le port d'écoute</a:t>
            </a:r>
            <a:endParaRPr lang="fr-FR" sz="1400" b="0" dirty="0">
              <a:solidFill>
                <a:srgbClr val="CCCCCC"/>
              </a:solidFill>
              <a:effectLst/>
              <a:latin typeface="Consolas" panose="020B0609020204030204" pitchFamily="49" charset="0"/>
            </a:endParaRPr>
          </a:p>
          <a:p>
            <a:r>
              <a:rPr lang="fr-FR" sz="1400" b="0" dirty="0" err="1">
                <a:solidFill>
                  <a:srgbClr val="569CD6"/>
                </a:solidFill>
                <a:effectLst/>
                <a:latin typeface="Consolas" panose="020B0609020204030204" pitchFamily="49" charset="0"/>
              </a:rPr>
              <a:t>const</a:t>
            </a:r>
            <a:r>
              <a:rPr lang="fr-FR" sz="1400" b="0" dirty="0">
                <a:solidFill>
                  <a:srgbClr val="CCCCCC"/>
                </a:solidFill>
                <a:effectLst/>
                <a:latin typeface="Consolas" panose="020B0609020204030204" pitchFamily="49" charset="0"/>
              </a:rPr>
              <a:t> </a:t>
            </a:r>
            <a:r>
              <a:rPr lang="fr-FR" sz="1400" b="0" dirty="0">
                <a:solidFill>
                  <a:srgbClr val="4FC1FF"/>
                </a:solidFill>
                <a:effectLst/>
                <a:latin typeface="Consolas" panose="020B0609020204030204" pitchFamily="49" charset="0"/>
              </a:rPr>
              <a:t>port</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B5CEA8"/>
                </a:solidFill>
                <a:effectLst/>
                <a:latin typeface="Consolas" panose="020B0609020204030204" pitchFamily="49" charset="0"/>
              </a:rPr>
              <a:t>3000</a:t>
            </a:r>
            <a:r>
              <a:rPr lang="fr-FR" sz="1400" b="0" dirty="0">
                <a:solidFill>
                  <a:srgbClr val="CCCCCC"/>
                </a:solidFill>
                <a:effectLst/>
                <a:latin typeface="Consolas" panose="020B0609020204030204" pitchFamily="49" charset="0"/>
              </a:rPr>
              <a:t>;</a:t>
            </a:r>
          </a:p>
          <a:p>
            <a:br>
              <a:rPr lang="fr-FR" sz="1400" b="0" dirty="0">
                <a:solidFill>
                  <a:srgbClr val="CCCCCC"/>
                </a:solidFill>
                <a:effectLst/>
                <a:latin typeface="Consolas" panose="020B0609020204030204" pitchFamily="49" charset="0"/>
              </a:rPr>
            </a:br>
            <a:r>
              <a:rPr lang="fr-FR" sz="1400" b="0" dirty="0">
                <a:solidFill>
                  <a:srgbClr val="6A9955"/>
                </a:solidFill>
                <a:effectLst/>
                <a:latin typeface="Consolas" panose="020B0609020204030204" pitchFamily="49" charset="0"/>
              </a:rPr>
              <a:t>//on crée le server</a:t>
            </a:r>
            <a:endParaRPr lang="fr-FR" sz="1400" b="0" dirty="0">
              <a:solidFill>
                <a:srgbClr val="CCCCCC"/>
              </a:solidFill>
              <a:effectLst/>
              <a:latin typeface="Consolas" panose="020B0609020204030204" pitchFamily="49" charset="0"/>
            </a:endParaRPr>
          </a:p>
          <a:p>
            <a:r>
              <a:rPr lang="fr-FR" sz="1400" b="0" dirty="0" err="1">
                <a:solidFill>
                  <a:srgbClr val="569CD6"/>
                </a:solidFill>
                <a:effectLst/>
                <a:latin typeface="Consolas" panose="020B0609020204030204" pitchFamily="49" charset="0"/>
              </a:rPr>
              <a:t>const</a:t>
            </a:r>
            <a:r>
              <a:rPr lang="fr-FR" sz="1400" b="0" dirty="0">
                <a:solidFill>
                  <a:srgbClr val="CCCCCC"/>
                </a:solidFill>
                <a:effectLst/>
                <a:latin typeface="Consolas" panose="020B0609020204030204" pitchFamily="49" charset="0"/>
              </a:rPr>
              <a:t> </a:t>
            </a:r>
            <a:r>
              <a:rPr lang="fr-FR" sz="1400" b="0" dirty="0">
                <a:solidFill>
                  <a:srgbClr val="4FC1FF"/>
                </a:solidFill>
                <a:effectLst/>
                <a:latin typeface="Consolas" panose="020B0609020204030204" pitchFamily="49" charset="0"/>
              </a:rPr>
              <a:t>server</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err="1">
                <a:solidFill>
                  <a:srgbClr val="4EC9B0"/>
                </a:solidFill>
                <a:effectLst/>
                <a:latin typeface="Consolas" panose="020B0609020204030204" pitchFamily="49" charset="0"/>
              </a:rPr>
              <a:t>http</a:t>
            </a:r>
            <a:r>
              <a:rPr lang="fr-FR" sz="1400" b="0" dirty="0" err="1">
                <a:solidFill>
                  <a:srgbClr val="CCCCCC"/>
                </a:solidFill>
                <a:effectLst/>
                <a:latin typeface="Consolas" panose="020B0609020204030204" pitchFamily="49" charset="0"/>
              </a:rPr>
              <a:t>.</a:t>
            </a:r>
            <a:r>
              <a:rPr lang="fr-FR" sz="1400" b="0" dirty="0" err="1">
                <a:solidFill>
                  <a:srgbClr val="DCDCAA"/>
                </a:solidFill>
                <a:effectLst/>
                <a:latin typeface="Consolas" panose="020B0609020204030204" pitchFamily="49" charset="0"/>
              </a:rPr>
              <a:t>createServer</a:t>
            </a:r>
            <a:r>
              <a:rPr lang="fr-FR" sz="1400" b="0" dirty="0">
                <a:solidFill>
                  <a:srgbClr val="CCCCCC"/>
                </a:solidFill>
                <a:effectLst/>
                <a:latin typeface="Consolas" panose="020B0609020204030204" pitchFamily="49" charset="0"/>
              </a:rPr>
              <a:t>((</a:t>
            </a:r>
            <a:r>
              <a:rPr lang="fr-FR" sz="1400" b="0" dirty="0" err="1">
                <a:solidFill>
                  <a:srgbClr val="9CDCFE"/>
                </a:solidFill>
                <a:effectLst/>
                <a:latin typeface="Consolas" panose="020B0609020204030204" pitchFamily="49" charset="0"/>
              </a:rPr>
              <a:t>req</a:t>
            </a:r>
            <a:r>
              <a:rPr lang="fr-FR" sz="1400" b="0" dirty="0">
                <a:solidFill>
                  <a:srgbClr val="CCCCCC"/>
                </a:solidFill>
                <a:effectLst/>
                <a:latin typeface="Consolas" panose="020B0609020204030204" pitchFamily="49" charset="0"/>
              </a:rPr>
              <a:t>, </a:t>
            </a:r>
            <a:r>
              <a:rPr lang="fr-FR" sz="1400" b="0" dirty="0" err="1">
                <a:solidFill>
                  <a:srgbClr val="9CDCFE"/>
                </a:solidFill>
                <a:effectLst/>
                <a:latin typeface="Consolas" panose="020B0609020204030204" pitchFamily="49" charset="0"/>
              </a:rPr>
              <a:t>res</a:t>
            </a:r>
            <a:r>
              <a:rPr lang="fr-FR" sz="1400" b="0" dirty="0">
                <a:solidFill>
                  <a:srgbClr val="CCCCCC"/>
                </a:solidFill>
                <a:effectLst/>
                <a:latin typeface="Consolas" panose="020B0609020204030204" pitchFamily="49" charset="0"/>
              </a:rPr>
              <a:t>) </a:t>
            </a:r>
            <a:r>
              <a:rPr lang="fr-FR" sz="1400" b="0" dirty="0">
                <a:solidFill>
                  <a:srgbClr val="569CD6"/>
                </a:solidFill>
                <a:effectLst/>
                <a:latin typeface="Consolas" panose="020B0609020204030204" pitchFamily="49" charset="0"/>
              </a:rPr>
              <a:t>=&gt;</a:t>
            </a:r>
            <a:r>
              <a:rPr lang="fr-FR" sz="1400" b="0" dirty="0">
                <a:solidFill>
                  <a:srgbClr val="CCCCCC"/>
                </a:solidFill>
                <a:effectLst/>
                <a:latin typeface="Consolas" panose="020B0609020204030204" pitchFamily="49" charset="0"/>
              </a:rPr>
              <a:t> {</a:t>
            </a:r>
          </a:p>
          <a:p>
            <a:r>
              <a:rPr lang="fr-FR" sz="1400" b="0" dirty="0">
                <a:solidFill>
                  <a:srgbClr val="CCCCCC"/>
                </a:solidFill>
                <a:effectLst/>
                <a:latin typeface="Consolas" panose="020B0609020204030204" pitchFamily="49" charset="0"/>
              </a:rPr>
              <a:t>  </a:t>
            </a:r>
            <a:r>
              <a:rPr lang="fr-FR" sz="1400" b="0" dirty="0" err="1">
                <a:solidFill>
                  <a:srgbClr val="9CDCFE"/>
                </a:solidFill>
                <a:effectLst/>
                <a:latin typeface="Consolas" panose="020B0609020204030204" pitchFamily="49" charset="0"/>
              </a:rPr>
              <a:t>res</a:t>
            </a:r>
            <a:r>
              <a:rPr lang="fr-FR" sz="1400" b="0" dirty="0" err="1">
                <a:solidFill>
                  <a:srgbClr val="CCCCCC"/>
                </a:solidFill>
                <a:effectLst/>
                <a:latin typeface="Consolas" panose="020B0609020204030204" pitchFamily="49" charset="0"/>
              </a:rPr>
              <a:t>.</a:t>
            </a:r>
            <a:r>
              <a:rPr lang="fr-FR" sz="1400" b="0" dirty="0" err="1">
                <a:solidFill>
                  <a:srgbClr val="9CDCFE"/>
                </a:solidFill>
                <a:effectLst/>
                <a:latin typeface="Consolas" panose="020B0609020204030204" pitchFamily="49" charset="0"/>
              </a:rPr>
              <a:t>statusCode</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B5CEA8"/>
                </a:solidFill>
                <a:effectLst/>
                <a:latin typeface="Consolas" panose="020B0609020204030204" pitchFamily="49" charset="0"/>
              </a:rPr>
              <a:t>200</a:t>
            </a:r>
            <a:r>
              <a:rPr lang="fr-FR" sz="1400" b="0" dirty="0">
                <a:solidFill>
                  <a:srgbClr val="CCCCCC"/>
                </a:solidFill>
                <a:effectLst/>
                <a:latin typeface="Consolas" panose="020B0609020204030204" pitchFamily="49" charset="0"/>
              </a:rPr>
              <a:t>;                         </a:t>
            </a:r>
            <a:r>
              <a:rPr lang="fr-FR" sz="1400" b="0" dirty="0">
                <a:solidFill>
                  <a:srgbClr val="6A9955"/>
                </a:solidFill>
                <a:effectLst/>
                <a:latin typeface="Consolas" panose="020B0609020204030204" pitchFamily="49" charset="0"/>
              </a:rPr>
              <a:t>//Code de retour si tout va bien</a:t>
            </a:r>
            <a:endParaRPr lang="fr-FR" sz="1400" b="0" dirty="0">
              <a:solidFill>
                <a:srgbClr val="CCCCCC"/>
              </a:solidFill>
              <a:effectLst/>
              <a:latin typeface="Consolas" panose="020B0609020204030204" pitchFamily="49" charset="0"/>
            </a:endParaRPr>
          </a:p>
          <a:p>
            <a:r>
              <a:rPr lang="fr-FR" sz="1400" b="0" dirty="0">
                <a:solidFill>
                  <a:srgbClr val="CCCCCC"/>
                </a:solidFill>
                <a:effectLst/>
                <a:latin typeface="Consolas" panose="020B0609020204030204" pitchFamily="49" charset="0"/>
              </a:rPr>
              <a:t>  </a:t>
            </a:r>
            <a:r>
              <a:rPr lang="fr-FR" sz="1400" b="0" dirty="0" err="1">
                <a:solidFill>
                  <a:srgbClr val="9CDCFE"/>
                </a:solidFill>
                <a:effectLst/>
                <a:latin typeface="Consolas" panose="020B0609020204030204" pitchFamily="49" charset="0"/>
              </a:rPr>
              <a:t>res</a:t>
            </a:r>
            <a:r>
              <a:rPr lang="fr-FR" sz="1400" b="0" dirty="0" err="1">
                <a:solidFill>
                  <a:srgbClr val="CCCCCC"/>
                </a:solidFill>
                <a:effectLst/>
                <a:latin typeface="Consolas" panose="020B0609020204030204" pitchFamily="49" charset="0"/>
              </a:rPr>
              <a:t>.</a:t>
            </a:r>
            <a:r>
              <a:rPr lang="fr-FR" sz="1400" b="0" dirty="0" err="1">
                <a:solidFill>
                  <a:srgbClr val="DCDCAA"/>
                </a:solidFill>
                <a:effectLst/>
                <a:latin typeface="Consolas" panose="020B0609020204030204" pitchFamily="49" charset="0"/>
              </a:rPr>
              <a:t>setHeader</a:t>
            </a:r>
            <a:r>
              <a:rPr lang="fr-FR" sz="1400" b="0" dirty="0">
                <a:solidFill>
                  <a:srgbClr val="CCCCCC"/>
                </a:solidFill>
                <a:effectLst/>
                <a:latin typeface="Consolas" panose="020B0609020204030204" pitchFamily="49" charset="0"/>
              </a:rPr>
              <a:t>(</a:t>
            </a:r>
            <a:r>
              <a:rPr lang="fr-FR" sz="1400" b="0" dirty="0">
                <a:solidFill>
                  <a:srgbClr val="CE9178"/>
                </a:solidFill>
                <a:effectLst/>
                <a:latin typeface="Consolas" panose="020B0609020204030204" pitchFamily="49" charset="0"/>
              </a:rPr>
              <a:t>'Content-Type'</a:t>
            </a:r>
            <a:r>
              <a:rPr lang="fr-FR" sz="1400" b="0" dirty="0">
                <a:solidFill>
                  <a:srgbClr val="CCCCCC"/>
                </a:solidFill>
                <a:effectLst/>
                <a:latin typeface="Consolas" panose="020B0609020204030204" pitchFamily="49" charset="0"/>
              </a:rPr>
              <a:t>, </a:t>
            </a:r>
            <a:r>
              <a:rPr lang="fr-FR" sz="1400" b="0" dirty="0">
                <a:solidFill>
                  <a:srgbClr val="CE9178"/>
                </a:solidFill>
                <a:effectLst/>
                <a:latin typeface="Consolas" panose="020B0609020204030204" pitchFamily="49" charset="0"/>
              </a:rPr>
              <a:t>'</a:t>
            </a:r>
            <a:r>
              <a:rPr lang="fr-FR" sz="1400" b="0" dirty="0" err="1">
                <a:solidFill>
                  <a:srgbClr val="CE9178"/>
                </a:solidFill>
                <a:effectLst/>
                <a:latin typeface="Consolas" panose="020B0609020204030204" pitchFamily="49" charset="0"/>
              </a:rPr>
              <a:t>text</a:t>
            </a:r>
            <a:r>
              <a:rPr lang="fr-FR" sz="1400" b="0" dirty="0">
                <a:solidFill>
                  <a:srgbClr val="CE9178"/>
                </a:solidFill>
                <a:effectLst/>
                <a:latin typeface="Consolas" panose="020B0609020204030204" pitchFamily="49" charset="0"/>
              </a:rPr>
              <a:t>/plain'</a:t>
            </a:r>
            <a:r>
              <a:rPr lang="fr-FR" sz="1400" b="0" dirty="0">
                <a:solidFill>
                  <a:srgbClr val="CCCCCC"/>
                </a:solidFill>
                <a:effectLst/>
                <a:latin typeface="Consolas" panose="020B0609020204030204" pitchFamily="49" charset="0"/>
              </a:rPr>
              <a:t>);  </a:t>
            </a:r>
            <a:r>
              <a:rPr lang="fr-FR" sz="1400" b="0" dirty="0">
                <a:solidFill>
                  <a:srgbClr val="6A9955"/>
                </a:solidFill>
                <a:effectLst/>
                <a:latin typeface="Consolas" panose="020B0609020204030204" pitchFamily="49" charset="0"/>
              </a:rPr>
              <a:t>//contenu texte brut</a:t>
            </a:r>
            <a:endParaRPr lang="fr-FR" sz="1400" b="0" dirty="0">
              <a:solidFill>
                <a:srgbClr val="CCCCCC"/>
              </a:solidFill>
              <a:effectLst/>
              <a:latin typeface="Consolas" panose="020B0609020204030204" pitchFamily="49" charset="0"/>
            </a:endParaRPr>
          </a:p>
          <a:p>
            <a:r>
              <a:rPr lang="fr-FR" sz="1400" b="0" dirty="0">
                <a:solidFill>
                  <a:srgbClr val="CCCCCC"/>
                </a:solidFill>
                <a:effectLst/>
                <a:latin typeface="Consolas" panose="020B0609020204030204" pitchFamily="49" charset="0"/>
              </a:rPr>
              <a:t>  </a:t>
            </a:r>
            <a:r>
              <a:rPr lang="fr-FR" sz="1400" b="0" dirty="0" err="1">
                <a:solidFill>
                  <a:srgbClr val="9CDCFE"/>
                </a:solidFill>
                <a:effectLst/>
                <a:latin typeface="Consolas" panose="020B0609020204030204" pitchFamily="49" charset="0"/>
              </a:rPr>
              <a:t>res</a:t>
            </a:r>
            <a:r>
              <a:rPr lang="fr-FR" sz="1400" b="0" dirty="0" err="1">
                <a:solidFill>
                  <a:srgbClr val="CCCCCC"/>
                </a:solidFill>
                <a:effectLst/>
                <a:latin typeface="Consolas" panose="020B0609020204030204" pitchFamily="49" charset="0"/>
              </a:rPr>
              <a:t>.</a:t>
            </a:r>
            <a:r>
              <a:rPr lang="fr-FR" sz="1400" b="0" dirty="0" err="1">
                <a:solidFill>
                  <a:srgbClr val="DCDCAA"/>
                </a:solidFill>
                <a:effectLst/>
                <a:latin typeface="Consolas" panose="020B0609020204030204" pitchFamily="49" charset="0"/>
              </a:rPr>
              <a:t>end</a:t>
            </a:r>
            <a:r>
              <a:rPr lang="fr-FR" sz="1400" b="0" dirty="0">
                <a:solidFill>
                  <a:srgbClr val="CCCCCC"/>
                </a:solidFill>
                <a:effectLst/>
                <a:latin typeface="Consolas" panose="020B0609020204030204" pitchFamily="49" charset="0"/>
              </a:rPr>
              <a:t>(</a:t>
            </a:r>
            <a:r>
              <a:rPr lang="fr-FR" sz="1400" b="0" dirty="0">
                <a:solidFill>
                  <a:srgbClr val="CE9178"/>
                </a:solidFill>
                <a:effectLst/>
                <a:latin typeface="Consolas" panose="020B0609020204030204" pitchFamily="49" charset="0"/>
              </a:rPr>
              <a:t>'Hello World</a:t>
            </a:r>
            <a:r>
              <a:rPr lang="fr-FR" sz="1400" b="0" dirty="0">
                <a:solidFill>
                  <a:srgbClr val="D7BA7D"/>
                </a:solidFill>
                <a:effectLst/>
                <a:latin typeface="Consolas" panose="020B0609020204030204" pitchFamily="49" charset="0"/>
              </a:rPr>
              <a:t>\n</a:t>
            </a:r>
            <a:r>
              <a:rPr lang="fr-FR" sz="1400" b="0" dirty="0">
                <a:solidFill>
                  <a:srgbClr val="CE9178"/>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6A9955"/>
                </a:solidFill>
                <a:effectLst/>
                <a:latin typeface="Consolas" panose="020B0609020204030204" pitchFamily="49" charset="0"/>
              </a:rPr>
              <a:t>//Réponse envoyé au client</a:t>
            </a:r>
            <a:endParaRPr lang="fr-FR" sz="1400" b="0" dirty="0">
              <a:solidFill>
                <a:srgbClr val="CCCCCC"/>
              </a:solidFill>
              <a:effectLst/>
              <a:latin typeface="Consolas" panose="020B0609020204030204" pitchFamily="49" charset="0"/>
            </a:endParaRPr>
          </a:p>
          <a:p>
            <a:r>
              <a:rPr lang="fr-FR" sz="1400" b="0" dirty="0">
                <a:solidFill>
                  <a:srgbClr val="CCCCCC"/>
                </a:solidFill>
                <a:effectLst/>
                <a:latin typeface="Consolas" panose="020B0609020204030204" pitchFamily="49" charset="0"/>
              </a:rPr>
              <a:t>});</a:t>
            </a:r>
          </a:p>
          <a:p>
            <a:br>
              <a:rPr lang="fr-FR" sz="1400" b="0" dirty="0">
                <a:solidFill>
                  <a:srgbClr val="CCCCCC"/>
                </a:solidFill>
                <a:effectLst/>
                <a:latin typeface="Consolas" panose="020B0609020204030204" pitchFamily="49" charset="0"/>
              </a:rPr>
            </a:br>
            <a:r>
              <a:rPr lang="fr-FR" sz="1400" b="0" dirty="0">
                <a:solidFill>
                  <a:srgbClr val="6A9955"/>
                </a:solidFill>
                <a:effectLst/>
                <a:latin typeface="Consolas" panose="020B0609020204030204" pitchFamily="49" charset="0"/>
              </a:rPr>
              <a:t>//Ecoute du server pour les requêtes entrantes</a:t>
            </a:r>
            <a:endParaRPr lang="fr-FR" sz="1400" b="0" dirty="0">
              <a:solidFill>
                <a:srgbClr val="CCCCCC"/>
              </a:solidFill>
              <a:effectLst/>
              <a:latin typeface="Consolas" panose="020B0609020204030204" pitchFamily="49" charset="0"/>
            </a:endParaRPr>
          </a:p>
          <a:p>
            <a:r>
              <a:rPr lang="fr-FR" sz="1400" b="0" dirty="0" err="1">
                <a:solidFill>
                  <a:srgbClr val="4FC1FF"/>
                </a:solidFill>
                <a:effectLst/>
                <a:latin typeface="Consolas" panose="020B0609020204030204" pitchFamily="49" charset="0"/>
              </a:rPr>
              <a:t>server</a:t>
            </a:r>
            <a:r>
              <a:rPr lang="fr-FR" sz="1400" b="0" dirty="0" err="1">
                <a:solidFill>
                  <a:srgbClr val="CCCCCC"/>
                </a:solidFill>
                <a:effectLst/>
                <a:latin typeface="Consolas" panose="020B0609020204030204" pitchFamily="49" charset="0"/>
              </a:rPr>
              <a:t>.</a:t>
            </a:r>
            <a:r>
              <a:rPr lang="fr-FR" sz="1400" b="0" dirty="0" err="1">
                <a:solidFill>
                  <a:srgbClr val="DCDCAA"/>
                </a:solidFill>
                <a:effectLst/>
                <a:latin typeface="Consolas" panose="020B0609020204030204" pitchFamily="49" charset="0"/>
              </a:rPr>
              <a:t>listen</a:t>
            </a:r>
            <a:r>
              <a:rPr lang="fr-FR" sz="1400" b="0" dirty="0">
                <a:solidFill>
                  <a:srgbClr val="CCCCCC"/>
                </a:solidFill>
                <a:effectLst/>
                <a:latin typeface="Consolas" panose="020B0609020204030204" pitchFamily="49" charset="0"/>
              </a:rPr>
              <a:t>(</a:t>
            </a:r>
            <a:r>
              <a:rPr lang="fr-FR" sz="1400" b="0" dirty="0">
                <a:solidFill>
                  <a:srgbClr val="4FC1FF"/>
                </a:solidFill>
                <a:effectLst/>
                <a:latin typeface="Consolas" panose="020B0609020204030204" pitchFamily="49" charset="0"/>
              </a:rPr>
              <a:t>port</a:t>
            </a:r>
            <a:r>
              <a:rPr lang="fr-FR" sz="1400" b="0" dirty="0">
                <a:solidFill>
                  <a:srgbClr val="CCCCCC"/>
                </a:solidFill>
                <a:effectLst/>
                <a:latin typeface="Consolas" panose="020B0609020204030204" pitchFamily="49" charset="0"/>
              </a:rPr>
              <a:t>, </a:t>
            </a:r>
            <a:r>
              <a:rPr lang="fr-FR" sz="1400" b="0" dirty="0" err="1">
                <a:solidFill>
                  <a:srgbClr val="4FC1FF"/>
                </a:solidFill>
                <a:effectLst/>
                <a:latin typeface="Consolas" panose="020B0609020204030204" pitchFamily="49" charset="0"/>
              </a:rPr>
              <a:t>hostname</a:t>
            </a:r>
            <a:r>
              <a:rPr lang="fr-FR" sz="1400" b="0" dirty="0">
                <a:solidFill>
                  <a:srgbClr val="CCCCCC"/>
                </a:solidFill>
                <a:effectLst/>
                <a:latin typeface="Consolas" panose="020B0609020204030204" pitchFamily="49" charset="0"/>
              </a:rPr>
              <a:t>, () </a:t>
            </a:r>
            <a:r>
              <a:rPr lang="fr-FR" sz="1400" b="0" dirty="0">
                <a:solidFill>
                  <a:srgbClr val="569CD6"/>
                </a:solidFill>
                <a:effectLst/>
                <a:latin typeface="Consolas" panose="020B0609020204030204" pitchFamily="49" charset="0"/>
              </a:rPr>
              <a:t>=&gt;</a:t>
            </a:r>
            <a:r>
              <a:rPr lang="fr-FR" sz="1400" b="0" dirty="0">
                <a:solidFill>
                  <a:srgbClr val="CCCCCC"/>
                </a:solidFill>
                <a:effectLst/>
                <a:latin typeface="Consolas" panose="020B0609020204030204" pitchFamily="49" charset="0"/>
              </a:rPr>
              <a:t> {</a:t>
            </a:r>
          </a:p>
          <a:p>
            <a:r>
              <a:rPr lang="fr-FR" sz="1400" b="0" dirty="0">
                <a:solidFill>
                  <a:srgbClr val="CCCCCC"/>
                </a:solidFill>
                <a:effectLst/>
                <a:latin typeface="Consolas" panose="020B0609020204030204" pitchFamily="49" charset="0"/>
              </a:rPr>
              <a:t>  </a:t>
            </a:r>
            <a:r>
              <a:rPr lang="fr-FR" sz="1400" b="0" dirty="0">
                <a:solidFill>
                  <a:srgbClr val="9CDCFE"/>
                </a:solidFill>
                <a:effectLst/>
                <a:latin typeface="Consolas" panose="020B0609020204030204" pitchFamily="49" charset="0"/>
              </a:rPr>
              <a:t>console</a:t>
            </a:r>
            <a:r>
              <a:rPr lang="fr-FR" sz="1400" b="0" dirty="0">
                <a:solidFill>
                  <a:srgbClr val="CCCCCC"/>
                </a:solidFill>
                <a:effectLst/>
                <a:latin typeface="Consolas" panose="020B0609020204030204" pitchFamily="49" charset="0"/>
              </a:rPr>
              <a:t>.</a:t>
            </a:r>
            <a:r>
              <a:rPr lang="fr-FR" sz="1400" b="0" dirty="0">
                <a:solidFill>
                  <a:srgbClr val="DCDCAA"/>
                </a:solidFill>
                <a:effectLst/>
                <a:latin typeface="Consolas" panose="020B0609020204030204" pitchFamily="49" charset="0"/>
              </a:rPr>
              <a:t>log</a:t>
            </a:r>
            <a:r>
              <a:rPr lang="fr-FR" sz="1400" b="0" dirty="0">
                <a:solidFill>
                  <a:srgbClr val="CCCCCC"/>
                </a:solidFill>
                <a:effectLst/>
                <a:latin typeface="Consolas" panose="020B0609020204030204" pitchFamily="49" charset="0"/>
              </a:rPr>
              <a:t>(</a:t>
            </a:r>
            <a:r>
              <a:rPr lang="fr-FR" sz="1400" b="0" dirty="0">
                <a:solidFill>
                  <a:srgbClr val="CE9178"/>
                </a:solidFill>
                <a:effectLst/>
                <a:latin typeface="Consolas" panose="020B0609020204030204" pitchFamily="49" charset="0"/>
              </a:rPr>
              <a:t>`Server running at http://</a:t>
            </a:r>
            <a:r>
              <a:rPr lang="fr-FR" sz="1400" b="0" dirty="0">
                <a:solidFill>
                  <a:srgbClr val="569CD6"/>
                </a:solidFill>
                <a:effectLst/>
                <a:latin typeface="Consolas" panose="020B0609020204030204" pitchFamily="49" charset="0"/>
              </a:rPr>
              <a:t>${</a:t>
            </a:r>
            <a:r>
              <a:rPr lang="fr-FR" sz="1400" b="0" dirty="0">
                <a:solidFill>
                  <a:srgbClr val="4FC1FF"/>
                </a:solidFill>
                <a:effectLst/>
                <a:latin typeface="Consolas" panose="020B0609020204030204" pitchFamily="49" charset="0"/>
              </a:rPr>
              <a:t>hostname</a:t>
            </a:r>
            <a:r>
              <a:rPr lang="fr-FR" sz="1400" b="0" dirty="0">
                <a:solidFill>
                  <a:srgbClr val="569CD6"/>
                </a:solidFill>
                <a:effectLst/>
                <a:latin typeface="Consolas" panose="020B0609020204030204" pitchFamily="49" charset="0"/>
              </a:rPr>
              <a:t>}</a:t>
            </a:r>
            <a:r>
              <a:rPr lang="fr-FR" sz="1400" b="0" dirty="0">
                <a:solidFill>
                  <a:srgbClr val="CE9178"/>
                </a:solidFill>
                <a:effectLst/>
                <a:latin typeface="Consolas" panose="020B0609020204030204" pitchFamily="49" charset="0"/>
              </a:rPr>
              <a:t>:</a:t>
            </a:r>
            <a:r>
              <a:rPr lang="fr-FR" sz="1400" b="0" dirty="0">
                <a:solidFill>
                  <a:srgbClr val="569CD6"/>
                </a:solidFill>
                <a:effectLst/>
                <a:latin typeface="Consolas" panose="020B0609020204030204" pitchFamily="49" charset="0"/>
              </a:rPr>
              <a:t>${</a:t>
            </a:r>
            <a:r>
              <a:rPr lang="fr-FR" sz="1400" b="0" dirty="0">
                <a:solidFill>
                  <a:srgbClr val="4FC1FF"/>
                </a:solidFill>
                <a:effectLst/>
                <a:latin typeface="Consolas" panose="020B0609020204030204" pitchFamily="49" charset="0"/>
              </a:rPr>
              <a:t>port</a:t>
            </a:r>
            <a:r>
              <a:rPr lang="fr-FR" sz="1400" b="0" dirty="0">
                <a:solidFill>
                  <a:srgbClr val="569CD6"/>
                </a:solidFill>
                <a:effectLst/>
                <a:latin typeface="Consolas" panose="020B0609020204030204" pitchFamily="49" charset="0"/>
              </a:rPr>
              <a:t>}</a:t>
            </a:r>
            <a:r>
              <a:rPr lang="fr-FR" sz="1400" b="0" dirty="0">
                <a:solidFill>
                  <a:srgbClr val="CE9178"/>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6A9955"/>
                </a:solidFill>
                <a:effectLst/>
                <a:latin typeface="Consolas" panose="020B0609020204030204" pitchFamily="49" charset="0"/>
              </a:rPr>
              <a:t>//Message afficher au </a:t>
            </a:r>
            <a:r>
              <a:rPr lang="fr-FR" sz="1400" b="0" dirty="0" err="1">
                <a:solidFill>
                  <a:srgbClr val="6A9955"/>
                </a:solidFill>
                <a:effectLst/>
                <a:latin typeface="Consolas" panose="020B0609020204030204" pitchFamily="49" charset="0"/>
              </a:rPr>
              <a:t>demarrage</a:t>
            </a:r>
            <a:endParaRPr lang="fr-FR" sz="1400" b="0" dirty="0">
              <a:solidFill>
                <a:srgbClr val="CCCCCC"/>
              </a:solidFill>
              <a:effectLst/>
              <a:latin typeface="Consolas" panose="020B0609020204030204" pitchFamily="49" charset="0"/>
            </a:endParaRPr>
          </a:p>
          <a:p>
            <a:r>
              <a:rPr lang="fr-FR" sz="1400" b="0" dirty="0">
                <a:solidFill>
                  <a:srgbClr val="CCCCCC"/>
                </a:solidFill>
                <a:effectLst/>
                <a:latin typeface="Consolas" panose="020B0609020204030204" pitchFamily="49" charset="0"/>
              </a:rPr>
              <a:t>});</a:t>
            </a:r>
          </a:p>
          <a:p>
            <a:endParaRPr lang="en-US" sz="1400" dirty="0"/>
          </a:p>
        </p:txBody>
      </p:sp>
    </p:spTree>
    <p:extLst>
      <p:ext uri="{BB962C8B-B14F-4D97-AF65-F5344CB8AC3E}">
        <p14:creationId xmlns:p14="http://schemas.microsoft.com/office/powerpoint/2010/main" val="1023597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281780"/>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r>
              <a:rPr lang="fr-FR" dirty="0"/>
              <a:t>Lancement du serveur</a:t>
            </a:r>
          </a:p>
          <a:p>
            <a:pPr lvl="1"/>
            <a:r>
              <a:rPr lang="fr-FR" dirty="0"/>
              <a:t>Ouvrez un </a:t>
            </a:r>
            <a:r>
              <a:rPr lang="fr-FR" dirty="0" err="1"/>
              <a:t>teminal</a:t>
            </a:r>
            <a:r>
              <a:rPr lang="fr-FR" dirty="0"/>
              <a:t> dans </a:t>
            </a:r>
            <a:r>
              <a:rPr lang="fr-FR" dirty="0" err="1"/>
              <a:t>VSCode</a:t>
            </a:r>
            <a:r>
              <a:rPr lang="fr-FR" dirty="0"/>
              <a:t> (…&gt; New terminal)</a:t>
            </a:r>
          </a:p>
          <a:p>
            <a:pPr lvl="1"/>
            <a:r>
              <a:rPr lang="fr-FR" dirty="0"/>
              <a:t>Exécuter la commande « </a:t>
            </a:r>
            <a:r>
              <a:rPr lang="fr-FR" dirty="0" err="1"/>
              <a:t>node</a:t>
            </a:r>
            <a:r>
              <a:rPr lang="fr-FR" dirty="0"/>
              <a:t> server.js »</a:t>
            </a:r>
          </a:p>
          <a:p>
            <a:pPr lvl="1"/>
            <a:r>
              <a:rPr lang="fr-FR" dirty="0"/>
              <a:t>Remarquez dans la console que le serveur est bien démarrer sur le port spécifié </a:t>
            </a:r>
          </a:p>
          <a:p>
            <a:pPr marL="457200" lvl="1" indent="0">
              <a:buNone/>
            </a:pPr>
            <a:endParaRPr lang="fr-FR" dirty="0"/>
          </a:p>
          <a:p>
            <a:pPr lvl="1"/>
            <a:endParaRPr lang="fr-FR" dirty="0"/>
          </a:p>
          <a:p>
            <a:pPr marL="0" indent="0">
              <a:buNone/>
            </a:pPr>
            <a:endParaRPr lang="fr-FR" dirty="0"/>
          </a:p>
          <a:p>
            <a:pPr marL="0" indent="0">
              <a:buNone/>
            </a:pPr>
            <a:endParaRPr lang="fr-FR" dirty="0"/>
          </a:p>
          <a:p>
            <a:pPr marL="0" indent="0">
              <a:buNone/>
            </a:pPr>
            <a:endParaRPr lang="en-US" dirty="0"/>
          </a:p>
        </p:txBody>
      </p:sp>
    </p:spTree>
    <p:extLst>
      <p:ext uri="{BB962C8B-B14F-4D97-AF65-F5344CB8AC3E}">
        <p14:creationId xmlns:p14="http://schemas.microsoft.com/office/powerpoint/2010/main" val="3096740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281780"/>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lstStyle/>
          <a:p>
            <a:r>
              <a:rPr lang="fr-FR" dirty="0"/>
              <a:t>Lancement du serveur</a:t>
            </a:r>
          </a:p>
          <a:p>
            <a:pPr lvl="1"/>
            <a:r>
              <a:rPr lang="fr-FR" dirty="0"/>
              <a:t>Ouvrez un </a:t>
            </a:r>
            <a:r>
              <a:rPr lang="fr-FR" dirty="0" err="1"/>
              <a:t>teminal</a:t>
            </a:r>
            <a:r>
              <a:rPr lang="fr-FR" dirty="0"/>
              <a:t> dans </a:t>
            </a:r>
            <a:r>
              <a:rPr lang="fr-FR" dirty="0" err="1"/>
              <a:t>VSCode</a:t>
            </a:r>
            <a:r>
              <a:rPr lang="fr-FR" dirty="0"/>
              <a:t> (…&gt; New terminal)</a:t>
            </a:r>
          </a:p>
          <a:p>
            <a:pPr lvl="1"/>
            <a:r>
              <a:rPr lang="fr-FR" dirty="0"/>
              <a:t>Exécuter la commande « </a:t>
            </a:r>
            <a:r>
              <a:rPr lang="fr-FR" dirty="0" err="1"/>
              <a:t>node</a:t>
            </a:r>
            <a:r>
              <a:rPr lang="fr-FR" dirty="0"/>
              <a:t> server.js »</a:t>
            </a:r>
          </a:p>
          <a:p>
            <a:pPr lvl="1"/>
            <a:r>
              <a:rPr lang="fr-FR" dirty="0"/>
              <a:t>Remarquez dans la console que le serveur est bien démarrer sur le port spécifié </a:t>
            </a:r>
          </a:p>
          <a:p>
            <a:pPr lvl="1"/>
            <a:endParaRPr lang="fr-FR" dirty="0"/>
          </a:p>
          <a:p>
            <a:r>
              <a:rPr lang="fr-FR" dirty="0"/>
              <a:t>Teste dans un navigateur</a:t>
            </a:r>
          </a:p>
          <a:p>
            <a:pPr lvl="1"/>
            <a:r>
              <a:rPr lang="fr-FR" dirty="0"/>
              <a:t>Ouvrez un navigateur </a:t>
            </a:r>
          </a:p>
          <a:p>
            <a:pPr lvl="1"/>
            <a:r>
              <a:rPr lang="fr-FR" dirty="0"/>
              <a:t>Envoie une requête http au serveur via l’url: </a:t>
            </a:r>
            <a:r>
              <a:rPr lang="fr-FR" dirty="0">
                <a:hlinkClick r:id="rId2"/>
              </a:rPr>
              <a:t>http://127.0.0.1:3000/</a:t>
            </a:r>
            <a:endParaRPr lang="fr-FR" dirty="0"/>
          </a:p>
          <a:p>
            <a:r>
              <a:rPr lang="fr-FR" dirty="0"/>
              <a:t>Résultat</a:t>
            </a:r>
          </a:p>
          <a:p>
            <a:endParaRPr lang="fr-FR" dirty="0"/>
          </a:p>
          <a:p>
            <a:pPr marL="457200" lvl="1" indent="0">
              <a:buNone/>
            </a:pPr>
            <a:endParaRPr lang="fr-FR" dirty="0"/>
          </a:p>
          <a:p>
            <a:pPr lvl="1"/>
            <a:endParaRPr lang="fr-FR" dirty="0"/>
          </a:p>
          <a:p>
            <a:pPr marL="0" indent="0">
              <a:buNone/>
            </a:pPr>
            <a:endParaRPr lang="fr-FR" dirty="0"/>
          </a:p>
          <a:p>
            <a:pPr marL="0" indent="0">
              <a:buNone/>
            </a:pPr>
            <a:endParaRPr lang="fr-FR" dirty="0"/>
          </a:p>
          <a:p>
            <a:pPr marL="0" indent="0">
              <a:buNone/>
            </a:pPr>
            <a:endParaRPr lang="en-US" dirty="0"/>
          </a:p>
        </p:txBody>
      </p:sp>
      <p:pic>
        <p:nvPicPr>
          <p:cNvPr id="4" name="Image 3">
            <a:extLst>
              <a:ext uri="{FF2B5EF4-FFF2-40B4-BE49-F238E27FC236}">
                <a16:creationId xmlns:a16="http://schemas.microsoft.com/office/drawing/2014/main" id="{0B9DB7EB-48A6-99D2-9117-F78063185EF7}"/>
              </a:ext>
            </a:extLst>
          </p:cNvPr>
          <p:cNvPicPr>
            <a:picLocks noChangeAspect="1"/>
          </p:cNvPicPr>
          <p:nvPr/>
        </p:nvPicPr>
        <p:blipFill>
          <a:blip r:embed="rId3"/>
          <a:stretch>
            <a:fillRect/>
          </a:stretch>
        </p:blipFill>
        <p:spPr>
          <a:xfrm>
            <a:off x="2435301" y="5334000"/>
            <a:ext cx="6532504" cy="1004048"/>
          </a:xfrm>
          <a:prstGeom prst="rect">
            <a:avLst/>
          </a:prstGeom>
        </p:spPr>
      </p:pic>
    </p:spTree>
    <p:extLst>
      <p:ext uri="{BB962C8B-B14F-4D97-AF65-F5344CB8AC3E}">
        <p14:creationId xmlns:p14="http://schemas.microsoft.com/office/powerpoint/2010/main" val="220858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fontScale="92500" lnSpcReduction="10000"/>
          </a:bodyPr>
          <a:lstStyle/>
          <a:p>
            <a:r>
              <a:rPr lang="fr-FR" dirty="0"/>
              <a:t>Exemple d’application 2 – </a:t>
            </a:r>
            <a:r>
              <a:rPr lang="fr-FR" dirty="0" err="1"/>
              <a:t>NodeJS</a:t>
            </a:r>
            <a:r>
              <a:rPr lang="fr-FR" dirty="0"/>
              <a:t> + Expresse.js</a:t>
            </a:r>
          </a:p>
          <a:p>
            <a:pPr marL="0" indent="0">
              <a:buNone/>
            </a:pPr>
            <a:r>
              <a:rPr lang="fr-FR" dirty="0"/>
              <a:t>Dans cet exemple nous allons créer un système de gestion de login.</a:t>
            </a:r>
          </a:p>
          <a:p>
            <a:pPr marL="0" indent="0">
              <a:buNone/>
            </a:pPr>
            <a:r>
              <a:rPr lang="fr-FR" dirty="0"/>
              <a:t>Le serveur permet de:</a:t>
            </a:r>
          </a:p>
          <a:p>
            <a:pPr lvl="1"/>
            <a:r>
              <a:rPr lang="fr-FR" dirty="0"/>
              <a:t>Le client envoi des données depuis un formulaire (</a:t>
            </a:r>
            <a:r>
              <a:rPr lang="fr-FR" b="1" dirty="0"/>
              <a:t>inscription.html</a:t>
            </a:r>
            <a:r>
              <a:rPr lang="fr-FR" dirty="0"/>
              <a:t>) vers le serveur</a:t>
            </a:r>
          </a:p>
          <a:p>
            <a:pPr lvl="1"/>
            <a:r>
              <a:rPr lang="fr-FR" dirty="0"/>
              <a:t>Le serveur enregistre les informations dans la base de sonnées </a:t>
            </a:r>
          </a:p>
          <a:p>
            <a:pPr lvl="1"/>
            <a:r>
              <a:rPr lang="fr-FR" dirty="0"/>
              <a:t>Le client envoi une demande d’authentification avec des données (</a:t>
            </a:r>
            <a:r>
              <a:rPr lang="fr-FR" b="1" dirty="0"/>
              <a:t>login.html</a:t>
            </a:r>
            <a:r>
              <a:rPr lang="fr-FR" dirty="0"/>
              <a:t>)</a:t>
            </a:r>
          </a:p>
          <a:p>
            <a:pPr lvl="1"/>
            <a:r>
              <a:rPr lang="fr-FR" dirty="0"/>
              <a:t>Le client traite les données en vérifiant les informations stockées dans la base de données</a:t>
            </a:r>
          </a:p>
          <a:p>
            <a:pPr lvl="1"/>
            <a:r>
              <a:rPr lang="fr-FR" dirty="0"/>
              <a:t>En cas d’erreur de création de compte, o est redirigé vers une page d’erreur (</a:t>
            </a:r>
            <a:r>
              <a:rPr lang="fr-FR" b="1" dirty="0"/>
              <a:t>erreur_inscription.html</a:t>
            </a:r>
            <a:r>
              <a:rPr lang="fr-FR" dirty="0"/>
              <a:t>)</a:t>
            </a:r>
          </a:p>
          <a:p>
            <a:pPr lvl="1"/>
            <a:r>
              <a:rPr lang="fr-FR" dirty="0"/>
              <a:t>En cas d’erreur de login, on est redirigé vers une page d’erreur (</a:t>
            </a:r>
            <a:r>
              <a:rPr lang="fr-FR" b="1" dirty="0"/>
              <a:t>erreur_login.html</a:t>
            </a:r>
            <a:r>
              <a:rPr lang="fr-FR" dirty="0"/>
              <a:t>), par exemple erreur d’identifiant ou de mot de passe</a:t>
            </a:r>
          </a:p>
          <a:p>
            <a:pPr lvl="1"/>
            <a:endParaRPr lang="fr-FR" dirty="0"/>
          </a:p>
          <a:p>
            <a:pPr marL="0" indent="0">
              <a:buNone/>
            </a:pPr>
            <a:endParaRPr lang="en-US" dirty="0"/>
          </a:p>
        </p:txBody>
      </p:sp>
    </p:spTree>
    <p:extLst>
      <p:ext uri="{BB962C8B-B14F-4D97-AF65-F5344CB8AC3E}">
        <p14:creationId xmlns:p14="http://schemas.microsoft.com/office/powerpoint/2010/main" val="142561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fontScale="92500" lnSpcReduction="20000"/>
          </a:bodyPr>
          <a:lstStyle/>
          <a:p>
            <a:r>
              <a:rPr lang="fr-FR" dirty="0"/>
              <a:t>Exemple d’application 2 - </a:t>
            </a:r>
            <a:r>
              <a:rPr lang="fr-FR" dirty="0" err="1"/>
              <a:t>NodeJS</a:t>
            </a:r>
            <a:r>
              <a:rPr lang="fr-FR" dirty="0"/>
              <a:t> + Expresse.js</a:t>
            </a:r>
          </a:p>
          <a:p>
            <a:r>
              <a:rPr lang="fr-FR" dirty="0"/>
              <a:t>Prérequis 1</a:t>
            </a:r>
          </a:p>
          <a:p>
            <a:pPr lvl="1"/>
            <a:r>
              <a:rPr lang="fr-FR" dirty="0"/>
              <a:t>A ce stade </a:t>
            </a:r>
            <a:r>
              <a:rPr lang="fr-FR" dirty="0" err="1"/>
              <a:t>NodeJS</a:t>
            </a:r>
            <a:r>
              <a:rPr lang="fr-FR" dirty="0"/>
              <a:t> est déjà installé</a:t>
            </a:r>
          </a:p>
          <a:p>
            <a:pPr lvl="1"/>
            <a:r>
              <a:rPr lang="fr-FR" dirty="0"/>
              <a:t>On va utiliser une base de données MySQL </a:t>
            </a:r>
          </a:p>
          <a:p>
            <a:pPr lvl="1"/>
            <a:r>
              <a:rPr lang="fr-FR" dirty="0"/>
              <a:t>On va utiliser la suite XAMP pour créer un serveur local (apache) et faire tourner notre base donnée MySQL.</a:t>
            </a:r>
          </a:p>
          <a:p>
            <a:pPr lvl="1"/>
            <a:r>
              <a:rPr lang="fr-FR" dirty="0"/>
              <a:t>Pour l’installation de XAMPP, utilisé le fichier exécutable fournit</a:t>
            </a:r>
          </a:p>
          <a:p>
            <a:pPr marL="457200" lvl="1" indent="0">
              <a:buNone/>
            </a:pPr>
            <a:endParaRPr lang="fr-FR" dirty="0"/>
          </a:p>
          <a:p>
            <a:pPr marL="457200" lvl="1" indent="0">
              <a:buNone/>
            </a:pPr>
            <a:r>
              <a:rPr lang="fr-FR" dirty="0"/>
              <a:t>A ce stade nous avons une base de données MySQL qui tourne sur un serveur local Tomcat dans la suite XAMPP.</a:t>
            </a:r>
          </a:p>
          <a:p>
            <a:pPr marL="457200" lvl="1" indent="0">
              <a:buNone/>
            </a:pPr>
            <a:endParaRPr lang="fr-FR" dirty="0"/>
          </a:p>
          <a:p>
            <a:pPr lvl="1"/>
            <a:r>
              <a:rPr lang="fr-FR" dirty="0"/>
              <a:t>Dans l’interface de XAMPP démarrer le serveur Tomcat et la base MySQL</a:t>
            </a:r>
          </a:p>
          <a:p>
            <a:pPr lvl="1"/>
            <a:r>
              <a:rPr lang="fr-FR" dirty="0"/>
              <a:t>Accéder à l’interface de gestion de la base de données via l’URL: </a:t>
            </a:r>
            <a:r>
              <a:rPr lang="fr-FR" dirty="0">
                <a:hlinkClick r:id="rId2"/>
              </a:rPr>
              <a:t>http://localhost/phpmyadmin/</a:t>
            </a:r>
            <a:endParaRPr lang="fr-FR" dirty="0"/>
          </a:p>
          <a:p>
            <a:pPr lvl="1"/>
            <a:r>
              <a:rPr lang="fr-FR" dirty="0"/>
              <a:t>Tant qu’on y est créé une base de données </a:t>
            </a:r>
            <a:r>
              <a:rPr lang="fr-FR" dirty="0" err="1"/>
              <a:t>CompteUtilisateur</a:t>
            </a:r>
            <a:endParaRPr lang="fr-FR" dirty="0"/>
          </a:p>
          <a:p>
            <a:pPr marL="457200" lvl="1" indent="0">
              <a:buNone/>
            </a:pPr>
            <a:endParaRPr lang="fr-FR" dirty="0"/>
          </a:p>
          <a:p>
            <a:pPr lvl="1"/>
            <a:endParaRPr lang="fr-FR" dirty="0"/>
          </a:p>
          <a:p>
            <a:pPr marL="0" indent="0">
              <a:buNone/>
            </a:pPr>
            <a:endParaRPr lang="en-US" dirty="0"/>
          </a:p>
        </p:txBody>
      </p:sp>
    </p:spTree>
    <p:extLst>
      <p:ext uri="{BB962C8B-B14F-4D97-AF65-F5344CB8AC3E}">
        <p14:creationId xmlns:p14="http://schemas.microsoft.com/office/powerpoint/2010/main" val="4290871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a:bodyPr>
          <a:lstStyle/>
          <a:p>
            <a:r>
              <a:rPr lang="fr-FR" dirty="0"/>
              <a:t>Exemple d’application 2 - </a:t>
            </a:r>
            <a:r>
              <a:rPr lang="fr-FR" dirty="0" err="1"/>
              <a:t>NodeJS</a:t>
            </a:r>
            <a:r>
              <a:rPr lang="fr-FR" dirty="0"/>
              <a:t> + Expresse.js</a:t>
            </a:r>
          </a:p>
          <a:p>
            <a:r>
              <a:rPr lang="fr-FR" dirty="0"/>
              <a:t>Prérequis 1</a:t>
            </a:r>
          </a:p>
          <a:p>
            <a:pPr lvl="1"/>
            <a:r>
              <a:rPr lang="fr-FR" dirty="0"/>
              <a:t>Créer la table « utilisateurs » qui va stoker les données de connexion</a:t>
            </a:r>
          </a:p>
          <a:p>
            <a:pPr marL="457200" lvl="1" indent="0">
              <a:buNone/>
            </a:pPr>
            <a:endParaRPr lang="fr-FR" dirty="0"/>
          </a:p>
          <a:p>
            <a:pPr lvl="1"/>
            <a:endParaRPr lang="fr-FR" dirty="0"/>
          </a:p>
          <a:p>
            <a:pPr marL="0" indent="0">
              <a:buNone/>
            </a:pPr>
            <a:endParaRPr lang="en-US" dirty="0"/>
          </a:p>
        </p:txBody>
      </p:sp>
      <p:sp>
        <p:nvSpPr>
          <p:cNvPr id="2" name="ZoneTexte 1">
            <a:extLst>
              <a:ext uri="{FF2B5EF4-FFF2-40B4-BE49-F238E27FC236}">
                <a16:creationId xmlns:a16="http://schemas.microsoft.com/office/drawing/2014/main" id="{A9DC2E7B-CDFE-1D6D-3B3B-17AF4543F523}"/>
              </a:ext>
            </a:extLst>
          </p:cNvPr>
          <p:cNvSpPr txBox="1"/>
          <p:nvPr/>
        </p:nvSpPr>
        <p:spPr>
          <a:xfrm>
            <a:off x="2271860" y="2927023"/>
            <a:ext cx="8421278" cy="2585323"/>
          </a:xfrm>
          <a:prstGeom prst="rect">
            <a:avLst/>
          </a:prstGeom>
          <a:noFill/>
        </p:spPr>
        <p:txBody>
          <a:bodyPr wrap="square" rtlCol="0">
            <a:spAutoFit/>
          </a:bodyPr>
          <a:lstStyle/>
          <a:p>
            <a:r>
              <a:rPr lang="en-US" dirty="0"/>
              <a:t>CREATE TABLE </a:t>
            </a:r>
            <a:r>
              <a:rPr lang="en-US" dirty="0" err="1"/>
              <a:t>utilisateurs</a:t>
            </a:r>
            <a:r>
              <a:rPr lang="en-US" dirty="0"/>
              <a:t> (</a:t>
            </a:r>
          </a:p>
          <a:p>
            <a:pPr lvl="1"/>
            <a:r>
              <a:rPr lang="en-US" dirty="0"/>
              <a:t>id INT(6) UNSIGNED AUTO_INCREMENT PRIMARY KEY,</a:t>
            </a:r>
          </a:p>
          <a:p>
            <a:pPr lvl="1"/>
            <a:r>
              <a:rPr lang="en-US" dirty="0" err="1"/>
              <a:t>firstname</a:t>
            </a:r>
            <a:r>
              <a:rPr lang="en-US" dirty="0"/>
              <a:t> VARCHAR(30) NOT NULL,</a:t>
            </a:r>
          </a:p>
          <a:p>
            <a:pPr lvl="1"/>
            <a:r>
              <a:rPr lang="en-US" dirty="0" err="1"/>
              <a:t>lastname</a:t>
            </a:r>
            <a:r>
              <a:rPr lang="en-US" dirty="0"/>
              <a:t> VARCHAR(30) NOT NULL,</a:t>
            </a:r>
          </a:p>
          <a:p>
            <a:pPr lvl="1"/>
            <a:r>
              <a:rPr lang="en-US" dirty="0"/>
              <a:t>username VARCHAR(50) NOT NULL,</a:t>
            </a:r>
          </a:p>
          <a:p>
            <a:pPr lvl="1"/>
            <a:r>
              <a:rPr lang="en-US" dirty="0"/>
              <a:t>password VARCHAR(50) NOT NULL,</a:t>
            </a:r>
          </a:p>
          <a:p>
            <a:pPr lvl="1"/>
            <a:r>
              <a:rPr lang="en-US" dirty="0" err="1"/>
              <a:t>reg_date</a:t>
            </a:r>
            <a:r>
              <a:rPr lang="en-US" dirty="0"/>
              <a:t> TIMESTAMP DEFAULT CURRENT_TIMESTAMP ON UPDATE CURRENT_TIMESTAMP</a:t>
            </a:r>
          </a:p>
          <a:p>
            <a:pPr lvl="1"/>
            <a:r>
              <a:rPr lang="en-US" dirty="0"/>
              <a:t>)</a:t>
            </a:r>
          </a:p>
        </p:txBody>
      </p:sp>
    </p:spTree>
    <p:extLst>
      <p:ext uri="{BB962C8B-B14F-4D97-AF65-F5344CB8AC3E}">
        <p14:creationId xmlns:p14="http://schemas.microsoft.com/office/powerpoint/2010/main" val="976993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fontScale="70000" lnSpcReduction="20000"/>
          </a:bodyPr>
          <a:lstStyle/>
          <a:p>
            <a:r>
              <a:rPr lang="fr-FR" dirty="0"/>
              <a:t>Exemple d’application 2 - </a:t>
            </a:r>
            <a:r>
              <a:rPr lang="fr-FR" dirty="0" err="1"/>
              <a:t>NodeJS</a:t>
            </a:r>
            <a:r>
              <a:rPr lang="fr-FR" dirty="0"/>
              <a:t> + Expresse.js</a:t>
            </a:r>
          </a:p>
          <a:p>
            <a:r>
              <a:rPr lang="fr-FR" dirty="0"/>
              <a:t>Prérequis</a:t>
            </a:r>
          </a:p>
          <a:p>
            <a:pPr lvl="1"/>
            <a:r>
              <a:rPr lang="fr-FR" dirty="0"/>
              <a:t>Framework Express.js</a:t>
            </a:r>
          </a:p>
          <a:p>
            <a:pPr marL="457200" lvl="1" indent="0">
              <a:buNone/>
            </a:pPr>
            <a:r>
              <a:rPr lang="fr-FR" dirty="0"/>
              <a:t>Nous allons utiliser le Framework « Express.js » pour  développer notre application. </a:t>
            </a:r>
          </a:p>
          <a:p>
            <a:pPr marL="457200" lvl="1" indent="0">
              <a:buNone/>
            </a:pPr>
            <a:endParaRPr lang="fr-FR" dirty="0"/>
          </a:p>
          <a:p>
            <a:pPr lvl="1"/>
            <a:r>
              <a:rPr lang="fr-FR" dirty="0"/>
              <a:t>Créer un dossier  </a:t>
            </a:r>
            <a:r>
              <a:rPr lang="fr-FR" dirty="0" err="1"/>
              <a:t>CompteUtilisateur</a:t>
            </a:r>
            <a:r>
              <a:rPr lang="fr-FR" dirty="0"/>
              <a:t> dans </a:t>
            </a:r>
            <a:r>
              <a:rPr lang="fr-FR" dirty="0" err="1"/>
              <a:t>VSCode</a:t>
            </a:r>
            <a:r>
              <a:rPr lang="fr-FR" dirty="0"/>
              <a:t> pour recevoir le projet</a:t>
            </a:r>
          </a:p>
          <a:p>
            <a:pPr lvl="1"/>
            <a:r>
              <a:rPr lang="fr-FR" dirty="0"/>
              <a:t>On peut automatiquement initialiser notre projet avec la </a:t>
            </a:r>
            <a:r>
              <a:rPr lang="fr-FR" dirty="0" err="1"/>
              <a:t>commade</a:t>
            </a:r>
            <a:r>
              <a:rPr lang="fr-FR" dirty="0"/>
              <a:t> </a:t>
            </a:r>
            <a:r>
              <a:rPr lang="fr-FR" dirty="0" err="1"/>
              <a:t>node</a:t>
            </a:r>
            <a:r>
              <a:rPr lang="fr-FR" dirty="0"/>
              <a:t> suivante «  </a:t>
            </a:r>
            <a:r>
              <a:rPr lang="fr-FR" dirty="0" err="1"/>
              <a:t>npm</a:t>
            </a:r>
            <a:r>
              <a:rPr lang="fr-FR" dirty="0"/>
              <a:t> init –y »</a:t>
            </a:r>
          </a:p>
          <a:p>
            <a:pPr lvl="1"/>
            <a:r>
              <a:rPr lang="fr-FR" dirty="0"/>
              <a:t>Inspecté le contenu du fichier </a:t>
            </a:r>
            <a:r>
              <a:rPr lang="fr-FR" dirty="0" err="1"/>
              <a:t>package.json</a:t>
            </a:r>
            <a:r>
              <a:rPr lang="fr-FR" dirty="0"/>
              <a:t> automatiquement créer </a:t>
            </a:r>
          </a:p>
          <a:p>
            <a:pPr lvl="1"/>
            <a:r>
              <a:rPr lang="fr-FR" dirty="0"/>
              <a:t>Nous allons créer un fichier index.js spécifié comme le « main » dans le fichier « </a:t>
            </a:r>
            <a:r>
              <a:rPr lang="fr-FR" dirty="0" err="1"/>
              <a:t>package.json</a:t>
            </a:r>
            <a:r>
              <a:rPr lang="fr-FR" dirty="0"/>
              <a:t> ». C’est le point d’entrée de notre application</a:t>
            </a:r>
          </a:p>
          <a:p>
            <a:pPr lvl="1"/>
            <a:endParaRPr lang="fr-FR" dirty="0"/>
          </a:p>
          <a:p>
            <a:pPr lvl="1"/>
            <a:r>
              <a:rPr lang="fr-FR" dirty="0"/>
              <a:t>On va maintenant installer quelque package et Framework dont on a besoin via la ligne de </a:t>
            </a:r>
            <a:r>
              <a:rPr lang="fr-FR" dirty="0" err="1"/>
              <a:t>comande</a:t>
            </a:r>
            <a:endParaRPr lang="fr-FR" dirty="0"/>
          </a:p>
          <a:p>
            <a:pPr lvl="2"/>
            <a:r>
              <a:rPr lang="fr-FR" dirty="0"/>
              <a:t>« </a:t>
            </a:r>
            <a:r>
              <a:rPr lang="en-US" dirty="0"/>
              <a:t> </a:t>
            </a:r>
            <a:r>
              <a:rPr lang="en-US" dirty="0" err="1"/>
              <a:t>npm</a:t>
            </a:r>
            <a:r>
              <a:rPr lang="en-US" dirty="0"/>
              <a:t> </a:t>
            </a:r>
            <a:r>
              <a:rPr lang="en-US" dirty="0" err="1"/>
              <a:t>i</a:t>
            </a:r>
            <a:r>
              <a:rPr lang="en-US" dirty="0"/>
              <a:t> express </a:t>
            </a:r>
            <a:r>
              <a:rPr lang="en-US" dirty="0" err="1"/>
              <a:t>mysql</a:t>
            </a:r>
            <a:r>
              <a:rPr lang="en-US" dirty="0"/>
              <a:t> cookie-parser express-session body-parser </a:t>
            </a:r>
            <a:r>
              <a:rPr lang="fr-FR" dirty="0"/>
              <a:t>»</a:t>
            </a:r>
          </a:p>
          <a:p>
            <a:pPr lvl="1"/>
            <a:endParaRPr lang="fr-FR" dirty="0"/>
          </a:p>
          <a:p>
            <a:pPr lvl="1"/>
            <a:r>
              <a:rPr lang="fr-FR" dirty="0"/>
              <a:t>Un dossier </a:t>
            </a:r>
            <a:r>
              <a:rPr lang="fr-FR" dirty="0" err="1"/>
              <a:t>node_modules</a:t>
            </a:r>
            <a:r>
              <a:rPr lang="fr-FR" dirty="0"/>
              <a:t> apparaît avec la liste des modules installés.</a:t>
            </a:r>
          </a:p>
          <a:p>
            <a:pPr lvl="1"/>
            <a:endParaRPr lang="fr-FR" dirty="0"/>
          </a:p>
          <a:p>
            <a:pPr marL="457200" lvl="1" indent="0">
              <a:buNone/>
            </a:pPr>
            <a:r>
              <a:rPr lang="fr-FR" dirty="0"/>
              <a:t>   </a:t>
            </a:r>
          </a:p>
          <a:p>
            <a:pPr lvl="1"/>
            <a:endParaRPr lang="fr-FR" dirty="0"/>
          </a:p>
          <a:p>
            <a:pPr marL="0" indent="0">
              <a:buNone/>
            </a:pPr>
            <a:endParaRPr lang="en-US" dirty="0"/>
          </a:p>
        </p:txBody>
      </p:sp>
    </p:spTree>
    <p:extLst>
      <p:ext uri="{BB962C8B-B14F-4D97-AF65-F5344CB8AC3E}">
        <p14:creationId xmlns:p14="http://schemas.microsoft.com/office/powerpoint/2010/main" val="585194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a:bodyPr>
          <a:lstStyle/>
          <a:p>
            <a:r>
              <a:rPr lang="fr-FR" sz="1200" dirty="0"/>
              <a:t>Exemple d’application 2 - </a:t>
            </a:r>
            <a:r>
              <a:rPr lang="fr-FR" sz="1200" dirty="0" err="1"/>
              <a:t>NodeJS</a:t>
            </a:r>
            <a:r>
              <a:rPr lang="fr-FR" sz="1200" dirty="0"/>
              <a:t> + Expresse.js</a:t>
            </a:r>
          </a:p>
          <a:p>
            <a:pPr lvl="1"/>
            <a:r>
              <a:rPr lang="fr-FR" sz="1100" dirty="0"/>
              <a:t>Copier et coller le bloc de code suivant dans le fichier « index.js »</a:t>
            </a:r>
          </a:p>
          <a:p>
            <a:pPr lvl="1"/>
            <a:r>
              <a:rPr lang="fr-FR" sz="1100" dirty="0"/>
              <a:t>Les explications sont en commentaire, on comprendra petit-à-petit</a:t>
            </a:r>
          </a:p>
          <a:p>
            <a:pPr lvl="1"/>
            <a:r>
              <a:rPr lang="fr-FR" sz="1100" dirty="0"/>
              <a:t>Lancer l’application  avec la commande</a:t>
            </a:r>
          </a:p>
          <a:p>
            <a:pPr marL="457200" lvl="1" indent="0">
              <a:buNone/>
            </a:pPr>
            <a:r>
              <a:rPr lang="fr-FR" sz="1100" dirty="0"/>
              <a:t> « </a:t>
            </a:r>
            <a:r>
              <a:rPr lang="fr-FR" sz="1100" dirty="0" err="1"/>
              <a:t>node</a:t>
            </a:r>
            <a:r>
              <a:rPr lang="fr-FR" sz="1100" dirty="0"/>
              <a:t> index.js »</a:t>
            </a:r>
            <a:r>
              <a:rPr lang="fr-FR" sz="700" dirty="0"/>
              <a:t> </a:t>
            </a:r>
          </a:p>
          <a:p>
            <a:pPr lvl="1"/>
            <a:r>
              <a:rPr lang="fr-FR" sz="1050" dirty="0"/>
              <a:t>On a pas grande chose à l’écran et </a:t>
            </a:r>
          </a:p>
          <a:p>
            <a:pPr marL="457200" lvl="1" indent="0">
              <a:buNone/>
            </a:pPr>
            <a:r>
              <a:rPr lang="fr-FR" sz="1050" dirty="0"/>
              <a:t>c’est normal.</a:t>
            </a:r>
          </a:p>
          <a:p>
            <a:pPr lvl="1"/>
            <a:endParaRPr lang="fr-FR" sz="300" dirty="0"/>
          </a:p>
          <a:p>
            <a:pPr marL="457200" lvl="1" indent="0">
              <a:buNone/>
            </a:pPr>
            <a:endParaRPr lang="fr-FR" dirty="0"/>
          </a:p>
          <a:p>
            <a:pPr lvl="1"/>
            <a:endParaRPr lang="fr-FR" dirty="0"/>
          </a:p>
          <a:p>
            <a:pPr marL="457200" lvl="1" indent="0">
              <a:buNone/>
            </a:pPr>
            <a:r>
              <a:rPr lang="fr-FR" dirty="0"/>
              <a:t>   </a:t>
            </a:r>
          </a:p>
          <a:p>
            <a:pPr lvl="1"/>
            <a:endParaRPr lang="fr-FR" dirty="0"/>
          </a:p>
          <a:p>
            <a:pPr marL="0" indent="0">
              <a:buNone/>
            </a:pPr>
            <a:endParaRPr lang="en-US" dirty="0"/>
          </a:p>
        </p:txBody>
      </p:sp>
      <p:sp>
        <p:nvSpPr>
          <p:cNvPr id="6" name="ZoneTexte 5">
            <a:extLst>
              <a:ext uri="{FF2B5EF4-FFF2-40B4-BE49-F238E27FC236}">
                <a16:creationId xmlns:a16="http://schemas.microsoft.com/office/drawing/2014/main" id="{358102D2-B060-E0F5-4A14-95E224583D67}"/>
              </a:ext>
            </a:extLst>
          </p:cNvPr>
          <p:cNvSpPr txBox="1"/>
          <p:nvPr/>
        </p:nvSpPr>
        <p:spPr>
          <a:xfrm>
            <a:off x="3848622" y="1800312"/>
            <a:ext cx="8462250" cy="4955203"/>
          </a:xfrm>
          <a:prstGeom prst="rect">
            <a:avLst/>
          </a:prstGeom>
          <a:solidFill>
            <a:schemeClr val="tx1"/>
          </a:solidFill>
        </p:spPr>
        <p:txBody>
          <a:bodyPr wrap="square" rtlCol="0">
            <a:spAutoFit/>
          </a:bodyPr>
          <a:lstStyle/>
          <a:p>
            <a:r>
              <a:rPr lang="en-US" sz="900" b="0" dirty="0">
                <a:solidFill>
                  <a:srgbClr val="6A9955"/>
                </a:solidFill>
                <a:effectLst/>
                <a:latin typeface="Consolas" panose="020B0609020204030204" pitchFamily="49" charset="0"/>
              </a:rPr>
              <a:t>// server.js</a:t>
            </a:r>
            <a:endParaRPr lang="en-US" sz="900" b="0" dirty="0">
              <a:solidFill>
                <a:srgbClr val="CCCCCC"/>
              </a:solidFill>
              <a:effectLst/>
              <a:latin typeface="Consolas" panose="020B0609020204030204" pitchFamily="49" charset="0"/>
            </a:endParaRPr>
          </a:p>
          <a:p>
            <a:r>
              <a:rPr lang="en-US" sz="900" b="0" dirty="0">
                <a:solidFill>
                  <a:srgbClr val="6A9955"/>
                </a:solidFill>
                <a:effectLst/>
                <a:latin typeface="Consolas" panose="020B0609020204030204" pitchFamily="49" charset="0"/>
              </a:rPr>
              <a:t>//Import des </a:t>
            </a:r>
            <a:r>
              <a:rPr lang="en-US" sz="900" b="0" dirty="0" err="1">
                <a:solidFill>
                  <a:srgbClr val="6A9955"/>
                </a:solidFill>
                <a:effectLst/>
                <a:latin typeface="Consolas" panose="020B0609020204030204" pitchFamily="49" charset="0"/>
              </a:rPr>
              <a:t>dépendance</a:t>
            </a:r>
            <a:endParaRPr lang="en-US" sz="900" b="0" dirty="0">
              <a:solidFill>
                <a:srgbClr val="CCCCCC"/>
              </a:solidFill>
              <a:effectLst/>
              <a:latin typeface="Consolas" panose="020B0609020204030204" pitchFamily="49" charset="0"/>
            </a:endParaRPr>
          </a:p>
          <a:p>
            <a:r>
              <a:rPr lang="en-US" sz="900" b="0" dirty="0">
                <a:solidFill>
                  <a:srgbClr val="569CD6"/>
                </a:solidFill>
                <a:effectLst/>
                <a:latin typeface="Consolas" panose="020B0609020204030204" pitchFamily="49" charset="0"/>
              </a:rPr>
              <a:t>const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express</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require</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"express"</a:t>
            </a:r>
            <a:r>
              <a:rPr lang="en-US" sz="900" b="0" dirty="0">
                <a:solidFill>
                  <a:srgbClr val="CCCCCC"/>
                </a:solidFill>
                <a:effectLst/>
                <a:latin typeface="Consolas" panose="020B0609020204030204" pitchFamily="49" charset="0"/>
              </a:rPr>
              <a:t>);</a:t>
            </a:r>
          </a:p>
          <a:p>
            <a:r>
              <a:rPr lang="en-US" sz="900" b="0" dirty="0">
                <a:solidFill>
                  <a:srgbClr val="569CD6"/>
                </a:solidFill>
                <a:effectLst/>
                <a:latin typeface="Consolas" panose="020B0609020204030204" pitchFamily="49" charset="0"/>
              </a:rPr>
              <a:t>const</a:t>
            </a:r>
            <a:r>
              <a:rPr lang="en-US" sz="900" b="0" dirty="0">
                <a:solidFill>
                  <a:srgbClr val="CCCCCC"/>
                </a:solidFill>
                <a:effectLst/>
                <a:latin typeface="Consolas" panose="020B0609020204030204" pitchFamily="49" charset="0"/>
              </a:rPr>
              <a:t> </a:t>
            </a:r>
            <a:r>
              <a:rPr lang="en-US" sz="900" b="0" dirty="0" err="1">
                <a:solidFill>
                  <a:srgbClr val="DCDCAA"/>
                </a:solidFill>
                <a:effectLst/>
                <a:latin typeface="Consolas" panose="020B0609020204030204" pitchFamily="49" charset="0"/>
              </a:rPr>
              <a:t>cookieParser</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require</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"cookie-parser"</a:t>
            </a:r>
            <a:r>
              <a:rPr lang="en-US" sz="900" b="0" dirty="0">
                <a:solidFill>
                  <a:srgbClr val="CCCCCC"/>
                </a:solidFill>
                <a:effectLst/>
                <a:latin typeface="Consolas" panose="020B0609020204030204" pitchFamily="49" charset="0"/>
              </a:rPr>
              <a:t>);</a:t>
            </a:r>
          </a:p>
          <a:p>
            <a:r>
              <a:rPr lang="en-US" sz="900" b="0" dirty="0">
                <a:solidFill>
                  <a:srgbClr val="569CD6"/>
                </a:solidFill>
                <a:effectLst/>
                <a:latin typeface="Consolas" panose="020B0609020204030204" pitchFamily="49" charset="0"/>
              </a:rPr>
              <a:t>const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sessions</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require</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'express-session'</a:t>
            </a:r>
            <a:r>
              <a:rPr lang="en-US" sz="900" b="0" dirty="0">
                <a:solidFill>
                  <a:srgbClr val="CCCCCC"/>
                </a:solidFill>
                <a:effectLst/>
                <a:latin typeface="Consolas" panose="020B0609020204030204" pitchFamily="49" charset="0"/>
              </a:rPr>
              <a:t>);</a:t>
            </a:r>
          </a:p>
          <a:p>
            <a:r>
              <a:rPr lang="en-US" sz="900" b="0" dirty="0">
                <a:solidFill>
                  <a:srgbClr val="569CD6"/>
                </a:solidFill>
                <a:effectLst/>
                <a:latin typeface="Consolas" panose="020B0609020204030204" pitchFamily="49" charset="0"/>
              </a:rPr>
              <a:t>var</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mysql</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require</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a:t>
            </a:r>
            <a:r>
              <a:rPr lang="en-US" sz="900" b="0" dirty="0" err="1">
                <a:solidFill>
                  <a:srgbClr val="CE9178"/>
                </a:solidFill>
                <a:effectLst/>
                <a:latin typeface="Consolas" panose="020B0609020204030204" pitchFamily="49" charset="0"/>
              </a:rPr>
              <a:t>mysql</a:t>
            </a:r>
            <a:r>
              <a:rPr lang="en-US" sz="900" b="0" dirty="0">
                <a:solidFill>
                  <a:srgbClr val="CE9178"/>
                </a:solidFill>
                <a:effectLst/>
                <a:latin typeface="Consolas" panose="020B0609020204030204" pitchFamily="49" charset="0"/>
              </a:rPr>
              <a:t>'</a:t>
            </a:r>
            <a:r>
              <a:rPr lang="en-US" sz="900" b="0" dirty="0">
                <a:solidFill>
                  <a:srgbClr val="CCCCCC"/>
                </a:solidFill>
                <a:effectLst/>
                <a:latin typeface="Consolas" panose="020B0609020204030204" pitchFamily="49" charset="0"/>
              </a:rPr>
              <a:t>);</a:t>
            </a:r>
          </a:p>
          <a:p>
            <a:r>
              <a:rPr lang="en-US" sz="900" b="0" dirty="0">
                <a:solidFill>
                  <a:srgbClr val="569CD6"/>
                </a:solidFill>
                <a:effectLst/>
                <a:latin typeface="Consolas" panose="020B0609020204030204" pitchFamily="49" charset="0"/>
              </a:rPr>
              <a:t>var</a:t>
            </a:r>
            <a:r>
              <a:rPr lang="en-US" sz="900" b="0" dirty="0">
                <a:solidFill>
                  <a:srgbClr val="CCCCCC"/>
                </a:solidFill>
                <a:effectLst/>
                <a:latin typeface="Consolas" panose="020B0609020204030204" pitchFamily="49" charset="0"/>
              </a:rPr>
              <a:t> </a:t>
            </a:r>
            <a:r>
              <a:rPr lang="en-US" sz="900" b="0" dirty="0" err="1">
                <a:solidFill>
                  <a:srgbClr val="4FC1FF"/>
                </a:solidFill>
                <a:effectLst/>
                <a:latin typeface="Consolas" panose="020B0609020204030204" pitchFamily="49" charset="0"/>
              </a:rPr>
              <a:t>parseUrl</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require</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'body-parser'</a:t>
            </a:r>
            <a:r>
              <a:rPr lang="en-US" sz="900" b="0" dirty="0">
                <a:solidFill>
                  <a:srgbClr val="CCCCCC"/>
                </a:solidFill>
                <a:effectLst/>
                <a:latin typeface="Consolas" panose="020B0609020204030204" pitchFamily="49" charset="0"/>
              </a:rPr>
              <a:t>);</a:t>
            </a:r>
          </a:p>
          <a:p>
            <a:br>
              <a:rPr lang="en-US" sz="900" b="0" dirty="0">
                <a:solidFill>
                  <a:srgbClr val="CCCCCC"/>
                </a:solidFill>
                <a:effectLst/>
                <a:latin typeface="Consolas" panose="020B0609020204030204" pitchFamily="49" charset="0"/>
              </a:rPr>
            </a:br>
            <a:r>
              <a:rPr lang="en-US" sz="900" b="0" dirty="0">
                <a:solidFill>
                  <a:srgbClr val="569CD6"/>
                </a:solidFill>
                <a:effectLst/>
                <a:latin typeface="Consolas" panose="020B0609020204030204" pitchFamily="49" charset="0"/>
              </a:rPr>
              <a:t>const</a:t>
            </a:r>
            <a:r>
              <a:rPr lang="en-US" sz="900" b="0" dirty="0">
                <a:solidFill>
                  <a:srgbClr val="CCCCCC"/>
                </a:solidFill>
                <a:effectLst/>
                <a:latin typeface="Consolas" panose="020B0609020204030204" pitchFamily="49" charset="0"/>
              </a:rPr>
              <a:t> </a:t>
            </a:r>
            <a:r>
              <a:rPr lang="en-US" sz="900" b="0" dirty="0">
                <a:solidFill>
                  <a:srgbClr val="4FC1FF"/>
                </a:solidFill>
                <a:effectLst/>
                <a:latin typeface="Consolas" panose="020B0609020204030204" pitchFamily="49" charset="0"/>
              </a:rPr>
              <a:t>app</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DCDCAA"/>
                </a:solidFill>
                <a:effectLst/>
                <a:latin typeface="Consolas" panose="020B0609020204030204" pitchFamily="49" charset="0"/>
              </a:rPr>
              <a:t>express</a:t>
            </a:r>
            <a:r>
              <a:rPr lang="en-US" sz="900" b="0" dirty="0">
                <a:solidFill>
                  <a:srgbClr val="CCCCCC"/>
                </a:solidFill>
                <a:effectLst/>
                <a:latin typeface="Consolas" panose="020B0609020204030204" pitchFamily="49" charset="0"/>
              </a:rPr>
              <a:t>();</a:t>
            </a:r>
          </a:p>
          <a:p>
            <a:br>
              <a:rPr lang="en-US" sz="900" b="0" dirty="0">
                <a:solidFill>
                  <a:srgbClr val="CCCCCC"/>
                </a:solidFill>
                <a:effectLst/>
                <a:latin typeface="Consolas" panose="020B0609020204030204" pitchFamily="49" charset="0"/>
              </a:rPr>
            </a:br>
            <a:r>
              <a:rPr lang="en-US" sz="900" b="0" dirty="0">
                <a:solidFill>
                  <a:srgbClr val="6A9955"/>
                </a:solidFill>
                <a:effectLst/>
                <a:latin typeface="Consolas" panose="020B0609020204030204" pitchFamily="49" charset="0"/>
              </a:rPr>
              <a:t>//</a:t>
            </a:r>
            <a:r>
              <a:rPr lang="en-US" sz="900" b="0" dirty="0" err="1">
                <a:solidFill>
                  <a:srgbClr val="6A9955"/>
                </a:solidFill>
                <a:effectLst/>
                <a:latin typeface="Consolas" panose="020B0609020204030204" pitchFamily="49" charset="0"/>
              </a:rPr>
              <a:t>analyse</a:t>
            </a:r>
            <a:r>
              <a:rPr lang="en-US" sz="900" b="0" dirty="0">
                <a:solidFill>
                  <a:srgbClr val="6A9955"/>
                </a:solidFill>
                <a:effectLst/>
                <a:latin typeface="Consolas" panose="020B0609020204030204" pitchFamily="49" charset="0"/>
              </a:rPr>
              <a:t> des </a:t>
            </a:r>
            <a:r>
              <a:rPr lang="en-US" sz="900" b="0" dirty="0" err="1">
                <a:solidFill>
                  <a:srgbClr val="6A9955"/>
                </a:solidFill>
                <a:effectLst/>
                <a:latin typeface="Consolas" panose="020B0609020204030204" pitchFamily="49" charset="0"/>
              </a:rPr>
              <a:t>données</a:t>
            </a:r>
            <a:r>
              <a:rPr lang="en-US" sz="900" b="0" dirty="0">
                <a:solidFill>
                  <a:srgbClr val="6A9955"/>
                </a:solidFill>
                <a:effectLst/>
                <a:latin typeface="Consolas" panose="020B0609020204030204" pitchFamily="49" charset="0"/>
              </a:rPr>
              <a:t> URL </a:t>
            </a:r>
            <a:r>
              <a:rPr lang="en-US" sz="900" b="0" dirty="0" err="1">
                <a:solidFill>
                  <a:srgbClr val="6A9955"/>
                </a:solidFill>
                <a:effectLst/>
                <a:latin typeface="Consolas" panose="020B0609020204030204" pitchFamily="49" charset="0"/>
              </a:rPr>
              <a:t>encodées</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provenant</a:t>
            </a:r>
            <a:r>
              <a:rPr lang="en-US" sz="900" b="0" dirty="0">
                <a:solidFill>
                  <a:srgbClr val="6A9955"/>
                </a:solidFill>
                <a:effectLst/>
                <a:latin typeface="Consolas" panose="020B0609020204030204" pitchFamily="49" charset="0"/>
              </a:rPr>
              <a:t> des </a:t>
            </a:r>
            <a:r>
              <a:rPr lang="en-US" sz="900" b="0" dirty="0" err="1">
                <a:solidFill>
                  <a:srgbClr val="6A9955"/>
                </a:solidFill>
                <a:effectLst/>
                <a:latin typeface="Consolas" panose="020B0609020204030204" pitchFamily="49" charset="0"/>
              </a:rPr>
              <a:t>formulaires</a:t>
            </a:r>
            <a:endParaRPr lang="en-US" sz="900" b="0" dirty="0">
              <a:solidFill>
                <a:srgbClr val="CCCCCC"/>
              </a:solidFill>
              <a:effectLst/>
              <a:latin typeface="Consolas" panose="020B0609020204030204" pitchFamily="49" charset="0"/>
            </a:endParaRPr>
          </a:p>
          <a:p>
            <a:r>
              <a:rPr lang="en-US" sz="900" b="0" dirty="0">
                <a:solidFill>
                  <a:srgbClr val="569CD6"/>
                </a:solidFill>
                <a:effectLst/>
                <a:latin typeface="Consolas" panose="020B0609020204030204" pitchFamily="49" charset="0"/>
              </a:rPr>
              <a:t>var</a:t>
            </a:r>
            <a:r>
              <a:rPr lang="en-US" sz="900" b="0" dirty="0">
                <a:solidFill>
                  <a:srgbClr val="CCCCCC"/>
                </a:solidFill>
                <a:effectLst/>
                <a:latin typeface="Consolas" panose="020B0609020204030204" pitchFamily="49" charset="0"/>
              </a:rPr>
              <a:t> </a:t>
            </a:r>
            <a:r>
              <a:rPr lang="en-US" sz="900" b="0" dirty="0" err="1">
                <a:solidFill>
                  <a:srgbClr val="DCDCAA"/>
                </a:solidFill>
                <a:effectLst/>
                <a:latin typeface="Consolas" panose="020B0609020204030204" pitchFamily="49" charset="0"/>
              </a:rPr>
              <a:t>encodeUrl</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err="1">
                <a:solidFill>
                  <a:srgbClr val="4FC1FF"/>
                </a:solidFill>
                <a:effectLst/>
                <a:latin typeface="Consolas" panose="020B0609020204030204" pitchFamily="49" charset="0"/>
              </a:rPr>
              <a:t>parseUrl</a:t>
            </a:r>
            <a:r>
              <a:rPr lang="en-US" sz="900" b="0" dirty="0" err="1">
                <a:solidFill>
                  <a:srgbClr val="CCCCCC"/>
                </a:solidFill>
                <a:effectLst/>
                <a:latin typeface="Consolas" panose="020B0609020204030204" pitchFamily="49" charset="0"/>
              </a:rPr>
              <a:t>.</a:t>
            </a:r>
            <a:r>
              <a:rPr lang="en-US" sz="900" b="0" dirty="0" err="1">
                <a:solidFill>
                  <a:srgbClr val="DCDCAA"/>
                </a:solidFill>
                <a:effectLst/>
                <a:latin typeface="Consolas" panose="020B0609020204030204" pitchFamily="49" charset="0"/>
              </a:rPr>
              <a:t>urlencoded</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extended:</a:t>
            </a:r>
            <a:r>
              <a:rPr lang="en-US" sz="900" b="0" dirty="0">
                <a:solidFill>
                  <a:srgbClr val="CCCCCC"/>
                </a:solidFill>
                <a:effectLst/>
                <a:latin typeface="Consolas" panose="020B0609020204030204" pitchFamily="49" charset="0"/>
              </a:rPr>
              <a:t> </a:t>
            </a:r>
            <a:r>
              <a:rPr lang="en-US" sz="900" b="0" dirty="0">
                <a:solidFill>
                  <a:srgbClr val="569CD6"/>
                </a:solidFill>
                <a:effectLst/>
                <a:latin typeface="Consolas" panose="020B0609020204030204" pitchFamily="49" charset="0"/>
              </a:rPr>
              <a:t>false</a:t>
            </a:r>
            <a:r>
              <a:rPr lang="en-US" sz="900" b="0" dirty="0">
                <a:solidFill>
                  <a:srgbClr val="CCCCCC"/>
                </a:solidFill>
                <a:effectLst/>
                <a:latin typeface="Consolas" panose="020B0609020204030204" pitchFamily="49" charset="0"/>
              </a:rPr>
              <a:t> });</a:t>
            </a:r>
          </a:p>
          <a:p>
            <a:br>
              <a:rPr lang="en-US" sz="900" b="0" dirty="0">
                <a:solidFill>
                  <a:srgbClr val="CCCCCC"/>
                </a:solidFill>
                <a:effectLst/>
                <a:latin typeface="Consolas" panose="020B0609020204030204" pitchFamily="49" charset="0"/>
              </a:rPr>
            </a:br>
            <a:r>
              <a:rPr lang="en-US" sz="900" b="0" dirty="0" err="1">
                <a:solidFill>
                  <a:srgbClr val="4FC1FF"/>
                </a:solidFill>
                <a:effectLst/>
                <a:latin typeface="Consolas" panose="020B0609020204030204" pitchFamily="49" charset="0"/>
              </a:rPr>
              <a:t>app</a:t>
            </a:r>
            <a:r>
              <a:rPr lang="en-US" sz="900" b="0" dirty="0" err="1">
                <a:solidFill>
                  <a:srgbClr val="CCCCCC"/>
                </a:solidFill>
                <a:effectLst/>
                <a:latin typeface="Consolas" panose="020B0609020204030204" pitchFamily="49" charset="0"/>
              </a:rPr>
              <a:t>.</a:t>
            </a:r>
            <a:r>
              <a:rPr lang="en-US" sz="900" b="0" dirty="0" err="1">
                <a:solidFill>
                  <a:srgbClr val="DCDCAA"/>
                </a:solidFill>
                <a:effectLst/>
                <a:latin typeface="Consolas" panose="020B0609020204030204" pitchFamily="49" charset="0"/>
              </a:rPr>
              <a:t>use</a:t>
            </a:r>
            <a:r>
              <a:rPr lang="en-US" sz="900" b="0" dirty="0">
                <a:solidFill>
                  <a:srgbClr val="CCCCCC"/>
                </a:solidFill>
                <a:effectLst/>
                <a:latin typeface="Consolas" panose="020B0609020204030204" pitchFamily="49" charset="0"/>
              </a:rPr>
              <a:t>(</a:t>
            </a:r>
            <a:r>
              <a:rPr lang="en-US" sz="900" b="0" dirty="0">
                <a:solidFill>
                  <a:srgbClr val="DCDCAA"/>
                </a:solidFill>
                <a:effectLst/>
                <a:latin typeface="Consolas" panose="020B0609020204030204" pitchFamily="49" charset="0"/>
              </a:rPr>
              <a:t>sessions</a:t>
            </a:r>
            <a:r>
              <a:rPr lang="en-US" sz="900" b="0" dirty="0">
                <a:solidFill>
                  <a:srgbClr val="CCCCCC"/>
                </a:solidFill>
                <a:effectLst/>
                <a:latin typeface="Consolas" panose="020B0609020204030204" pitchFamily="49" charset="0"/>
              </a:rPr>
              <a:t>({</a:t>
            </a: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secret:</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a:t>
            </a:r>
            <a:r>
              <a:rPr lang="en-US" sz="900" b="0" dirty="0" err="1">
                <a:solidFill>
                  <a:srgbClr val="CE9178"/>
                </a:solidFill>
                <a:effectLst/>
                <a:latin typeface="Consolas" panose="020B0609020204030204" pitchFamily="49" charset="0"/>
              </a:rPr>
              <a:t>cle_secrete</a:t>
            </a:r>
            <a:r>
              <a:rPr lang="en-US" sz="900" b="0" dirty="0">
                <a:solidFill>
                  <a:srgbClr val="CE9178"/>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a:t>
            </a:r>
            <a:r>
              <a:rPr lang="en-US" sz="900" b="0" dirty="0" err="1">
                <a:solidFill>
                  <a:srgbClr val="6A9955"/>
                </a:solidFill>
                <a:effectLst/>
                <a:latin typeface="Consolas" panose="020B0609020204030204" pitchFamily="49" charset="0"/>
              </a:rPr>
              <a:t>clé</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secrète</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utilisée</a:t>
            </a:r>
            <a:r>
              <a:rPr lang="en-US" sz="900" b="0" dirty="0">
                <a:solidFill>
                  <a:srgbClr val="6A9955"/>
                </a:solidFill>
                <a:effectLst/>
                <a:latin typeface="Consolas" panose="020B0609020204030204" pitchFamily="49" charset="0"/>
              </a:rPr>
              <a:t> pour signer les cookies de session.</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saveUninitialized:</a:t>
            </a:r>
            <a:r>
              <a:rPr lang="en-US" sz="900" b="0" dirty="0" err="1">
                <a:solidFill>
                  <a:srgbClr val="569CD6"/>
                </a:solidFill>
                <a:effectLst/>
                <a:latin typeface="Consolas" panose="020B0609020204030204" pitchFamily="49" charset="0"/>
              </a:rPr>
              <a:t>true</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sauvegarder</a:t>
            </a:r>
            <a:r>
              <a:rPr lang="en-US" sz="900" b="0" dirty="0">
                <a:solidFill>
                  <a:srgbClr val="6A9955"/>
                </a:solidFill>
                <a:effectLst/>
                <a:latin typeface="Consolas" panose="020B0609020204030204" pitchFamily="49" charset="0"/>
              </a:rPr>
              <a:t> la session dans le </a:t>
            </a:r>
            <a:r>
              <a:rPr lang="en-US" sz="900" b="0" dirty="0" err="1">
                <a:solidFill>
                  <a:srgbClr val="6A9955"/>
                </a:solidFill>
                <a:effectLst/>
                <a:latin typeface="Consolas" panose="020B0609020204030204" pitchFamily="49" charset="0"/>
              </a:rPr>
              <a:t>store,utile</a:t>
            </a:r>
            <a:r>
              <a:rPr lang="en-US" sz="900" b="0" dirty="0">
                <a:solidFill>
                  <a:srgbClr val="6A9955"/>
                </a:solidFill>
                <a:effectLst/>
                <a:latin typeface="Consolas" panose="020B0609020204030204" pitchFamily="49" charset="0"/>
              </a:rPr>
              <a:t> pour les </a:t>
            </a:r>
            <a:r>
              <a:rPr lang="en-US" sz="900" b="0" dirty="0" err="1">
                <a:solidFill>
                  <a:srgbClr val="6A9955"/>
                </a:solidFill>
                <a:effectLst/>
                <a:latin typeface="Consolas" panose="020B0609020204030204" pitchFamily="49" charset="0"/>
              </a:rPr>
              <a:t>systèmes</a:t>
            </a:r>
            <a:r>
              <a:rPr lang="en-US" sz="900" b="0" dirty="0">
                <a:solidFill>
                  <a:srgbClr val="6A9955"/>
                </a:solidFill>
                <a:effectLst/>
                <a:latin typeface="Consolas" panose="020B0609020204030204" pitchFamily="49" charset="0"/>
              </a:rPr>
              <a:t> de </a:t>
            </a:r>
            <a:r>
              <a:rPr lang="en-US" sz="900" b="0" dirty="0" err="1">
                <a:solidFill>
                  <a:srgbClr val="6A9955"/>
                </a:solidFill>
                <a:effectLst/>
                <a:latin typeface="Consolas" panose="020B0609020204030204" pitchFamily="49" charset="0"/>
              </a:rPr>
              <a:t>suivi</a:t>
            </a:r>
            <a:r>
              <a:rPr lang="en-US" sz="900" b="0" dirty="0">
                <a:solidFill>
                  <a:srgbClr val="6A9955"/>
                </a:solidFill>
                <a:effectLst/>
                <a:latin typeface="Consolas" panose="020B0609020204030204" pitchFamily="49" charset="0"/>
              </a:rPr>
              <a:t> de session</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cookie:</a:t>
            </a:r>
            <a:r>
              <a:rPr lang="en-US" sz="900" b="0" dirty="0">
                <a:solidFill>
                  <a:srgbClr val="CCCCCC"/>
                </a:solidFill>
                <a:effectLst/>
                <a:latin typeface="Consolas" panose="020B0609020204030204" pitchFamily="49" charset="0"/>
              </a:rPr>
              <a:t> { </a:t>
            </a:r>
            <a:r>
              <a:rPr lang="en-US" sz="900" b="0" dirty="0" err="1">
                <a:solidFill>
                  <a:srgbClr val="9CDCFE"/>
                </a:solidFill>
                <a:effectLst/>
                <a:latin typeface="Consolas" panose="020B0609020204030204" pitchFamily="49" charset="0"/>
              </a:rPr>
              <a:t>maxAge</a:t>
            </a:r>
            <a:r>
              <a:rPr lang="en-US" sz="900" b="0" dirty="0">
                <a:solidFill>
                  <a:srgbClr val="9CDCFE"/>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1000</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60</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60</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B5CEA8"/>
                </a:solidFill>
                <a:effectLst/>
                <a:latin typeface="Consolas" panose="020B0609020204030204" pitchFamily="49" charset="0"/>
              </a:rPr>
              <a:t>24</a:t>
            </a:r>
            <a:r>
              <a:rPr lang="en-US" sz="900" b="0" dirty="0">
                <a:solidFill>
                  <a:srgbClr val="CCCCCC"/>
                </a:solidFill>
                <a:effectLst/>
                <a:latin typeface="Consolas" panose="020B0609020204030204" pitchFamily="49" charset="0"/>
              </a:rPr>
              <a:t> }, </a:t>
            </a:r>
            <a:r>
              <a:rPr lang="en-US" sz="900" b="0" dirty="0">
                <a:solidFill>
                  <a:srgbClr val="6A9955"/>
                </a:solidFill>
                <a:effectLst/>
                <a:latin typeface="Consolas" panose="020B0609020204030204" pitchFamily="49" charset="0"/>
              </a:rPr>
              <a:t>// 24 hours -  la durée de vie du cookie de session </a:t>
            </a:r>
            <a:r>
              <a:rPr lang="en-US" sz="900" b="0" dirty="0" err="1">
                <a:solidFill>
                  <a:srgbClr val="6A9955"/>
                </a:solidFill>
                <a:effectLst/>
                <a:latin typeface="Consolas" panose="020B0609020204030204" pitchFamily="49" charset="0"/>
              </a:rPr>
              <a:t>en</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millisecondes</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resave:</a:t>
            </a:r>
            <a:r>
              <a:rPr lang="en-US" sz="900" b="0" dirty="0">
                <a:solidFill>
                  <a:srgbClr val="CCCCCC"/>
                </a:solidFill>
                <a:effectLst/>
                <a:latin typeface="Consolas" panose="020B0609020204030204" pitchFamily="49" charset="0"/>
              </a:rPr>
              <a:t> </a:t>
            </a:r>
            <a:r>
              <a:rPr lang="en-US" sz="900" b="0" dirty="0">
                <a:solidFill>
                  <a:srgbClr val="569CD6"/>
                </a:solidFill>
                <a:effectLst/>
                <a:latin typeface="Consolas" panose="020B0609020204030204" pitchFamily="49" charset="0"/>
              </a:rPr>
              <a:t>false</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//ne pas </a:t>
            </a:r>
            <a:r>
              <a:rPr lang="en-US" sz="900" b="0" dirty="0" err="1">
                <a:solidFill>
                  <a:srgbClr val="6A9955"/>
                </a:solidFill>
                <a:effectLst/>
                <a:latin typeface="Consolas" panose="020B0609020204030204" pitchFamily="49" charset="0"/>
              </a:rPr>
              <a:t>réenregistrer</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automatiquement</a:t>
            </a:r>
            <a:r>
              <a:rPr lang="en-US" sz="900" b="0" dirty="0">
                <a:solidFill>
                  <a:srgbClr val="6A9955"/>
                </a:solidFill>
                <a:effectLst/>
                <a:latin typeface="Consolas" panose="020B0609020204030204" pitchFamily="49" charset="0"/>
              </a:rPr>
              <a:t> la session dans le store </a:t>
            </a:r>
            <a:r>
              <a:rPr lang="en-US" sz="900" b="0" dirty="0" err="1">
                <a:solidFill>
                  <a:srgbClr val="6A9955"/>
                </a:solidFill>
                <a:effectLst/>
                <a:latin typeface="Consolas" panose="020B0609020204030204" pitchFamily="49" charset="0"/>
              </a:rPr>
              <a:t>si</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elle</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n'a</a:t>
            </a:r>
            <a:r>
              <a:rPr lang="en-US" sz="900" b="0" dirty="0">
                <a:solidFill>
                  <a:srgbClr val="6A9955"/>
                </a:solidFill>
                <a:effectLst/>
                <a:latin typeface="Consolas" panose="020B0609020204030204" pitchFamily="49" charset="0"/>
              </a:rPr>
              <a:t> pas </a:t>
            </a:r>
            <a:r>
              <a:rPr lang="en-US" sz="900" b="0" dirty="0" err="1">
                <a:solidFill>
                  <a:srgbClr val="6A9955"/>
                </a:solidFill>
                <a:effectLst/>
                <a:latin typeface="Consolas" panose="020B0609020204030204" pitchFamily="49" charset="0"/>
              </a:rPr>
              <a:t>été</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modifiée</a:t>
            </a:r>
            <a:r>
              <a:rPr lang="en-US" sz="900" b="0" dirty="0">
                <a:solidFill>
                  <a:srgbClr val="6A9955"/>
                </a:solidFill>
                <a:effectLst/>
                <a:latin typeface="Consolas" panose="020B0609020204030204" pitchFamily="49" charset="0"/>
              </a:rPr>
              <a:t> pendant la </a:t>
            </a:r>
            <a:r>
              <a:rPr lang="en-US" sz="900" b="0" dirty="0" err="1">
                <a:solidFill>
                  <a:srgbClr val="6A9955"/>
                </a:solidFill>
                <a:effectLst/>
                <a:latin typeface="Consolas" panose="020B0609020204030204" pitchFamily="49" charset="0"/>
              </a:rPr>
              <a:t>requête</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a:t>
            </a:r>
          </a:p>
          <a:p>
            <a:br>
              <a:rPr lang="en-US" sz="900" b="0" dirty="0">
                <a:solidFill>
                  <a:srgbClr val="CCCCCC"/>
                </a:solidFill>
                <a:effectLst/>
                <a:latin typeface="Consolas" panose="020B0609020204030204" pitchFamily="49" charset="0"/>
              </a:rPr>
            </a:br>
            <a:r>
              <a:rPr lang="en-US" sz="900" b="0" dirty="0">
                <a:solidFill>
                  <a:srgbClr val="6A9955"/>
                </a:solidFill>
                <a:effectLst/>
                <a:latin typeface="Consolas" panose="020B0609020204030204" pitchFamily="49" charset="0"/>
              </a:rPr>
              <a:t>//extraction des cookies de </a:t>
            </a:r>
            <a:r>
              <a:rPr lang="en-US" sz="900" b="0" dirty="0" err="1">
                <a:solidFill>
                  <a:srgbClr val="6A9955"/>
                </a:solidFill>
                <a:effectLst/>
                <a:latin typeface="Consolas" panose="020B0609020204030204" pitchFamily="49" charset="0"/>
              </a:rPr>
              <a:t>l'en</a:t>
            </a:r>
            <a:r>
              <a:rPr lang="en-US" sz="900" b="0" dirty="0">
                <a:solidFill>
                  <a:srgbClr val="6A9955"/>
                </a:solidFill>
                <a:effectLst/>
                <a:latin typeface="Consolas" panose="020B0609020204030204" pitchFamily="49" charset="0"/>
              </a:rPr>
              <a:t>-tête Cookie de la </a:t>
            </a:r>
            <a:r>
              <a:rPr lang="en-US" sz="900" b="0" dirty="0" err="1">
                <a:solidFill>
                  <a:srgbClr val="6A9955"/>
                </a:solidFill>
                <a:effectLst/>
                <a:latin typeface="Consolas" panose="020B0609020204030204" pitchFamily="49" charset="0"/>
              </a:rPr>
              <a:t>requête</a:t>
            </a:r>
            <a:r>
              <a:rPr lang="en-US" sz="900" b="0" dirty="0">
                <a:solidFill>
                  <a:srgbClr val="6A9955"/>
                </a:solidFill>
                <a:effectLst/>
                <a:latin typeface="Consolas" panose="020B0609020204030204" pitchFamily="49" charset="0"/>
              </a:rPr>
              <a:t> </a:t>
            </a:r>
            <a:r>
              <a:rPr lang="en-US" sz="900" b="0" dirty="0" err="1">
                <a:solidFill>
                  <a:srgbClr val="6A9955"/>
                </a:solidFill>
                <a:effectLst/>
                <a:latin typeface="Consolas" panose="020B0609020204030204" pitchFamily="49" charset="0"/>
              </a:rPr>
              <a:t>entrante</a:t>
            </a:r>
            <a:r>
              <a:rPr lang="en-US" sz="900" b="0" dirty="0">
                <a:solidFill>
                  <a:srgbClr val="6A9955"/>
                </a:solidFill>
                <a:effectLst/>
                <a:latin typeface="Consolas" panose="020B0609020204030204" pitchFamily="49" charset="0"/>
              </a:rPr>
              <a:t> et les rend </a:t>
            </a:r>
            <a:r>
              <a:rPr lang="en-US" sz="900" b="0" dirty="0" err="1">
                <a:solidFill>
                  <a:srgbClr val="6A9955"/>
                </a:solidFill>
                <a:effectLst/>
                <a:latin typeface="Consolas" panose="020B0609020204030204" pitchFamily="49" charset="0"/>
              </a:rPr>
              <a:t>disponibles</a:t>
            </a:r>
            <a:r>
              <a:rPr lang="en-US" sz="900" b="0" dirty="0">
                <a:solidFill>
                  <a:srgbClr val="6A9955"/>
                </a:solidFill>
                <a:effectLst/>
                <a:latin typeface="Consolas" panose="020B0609020204030204" pitchFamily="49" charset="0"/>
              </a:rPr>
              <a:t> dans </a:t>
            </a:r>
            <a:r>
              <a:rPr lang="en-US" sz="900" b="0" dirty="0" err="1">
                <a:solidFill>
                  <a:srgbClr val="6A9955"/>
                </a:solidFill>
                <a:effectLst/>
                <a:latin typeface="Consolas" panose="020B0609020204030204" pitchFamily="49" charset="0"/>
              </a:rPr>
              <a:t>l'objet</a:t>
            </a:r>
            <a:r>
              <a:rPr lang="en-US" sz="900" b="0" dirty="0">
                <a:solidFill>
                  <a:srgbClr val="6A9955"/>
                </a:solidFill>
                <a:effectLst/>
                <a:latin typeface="Consolas" panose="020B0609020204030204" pitchFamily="49" charset="0"/>
              </a:rPr>
              <a:t> </a:t>
            </a:r>
            <a:endParaRPr lang="en-US" sz="900" b="0" dirty="0">
              <a:solidFill>
                <a:srgbClr val="CCCCCC"/>
              </a:solidFill>
              <a:effectLst/>
              <a:latin typeface="Consolas" panose="020B0609020204030204" pitchFamily="49" charset="0"/>
            </a:endParaRPr>
          </a:p>
          <a:p>
            <a:r>
              <a:rPr lang="en-US" sz="900" b="0" dirty="0" err="1">
                <a:solidFill>
                  <a:srgbClr val="4FC1FF"/>
                </a:solidFill>
                <a:effectLst/>
                <a:latin typeface="Consolas" panose="020B0609020204030204" pitchFamily="49" charset="0"/>
              </a:rPr>
              <a:t>app</a:t>
            </a:r>
            <a:r>
              <a:rPr lang="en-US" sz="900" b="0" dirty="0" err="1">
                <a:solidFill>
                  <a:srgbClr val="CCCCCC"/>
                </a:solidFill>
                <a:effectLst/>
                <a:latin typeface="Consolas" panose="020B0609020204030204" pitchFamily="49" charset="0"/>
              </a:rPr>
              <a:t>.</a:t>
            </a:r>
            <a:r>
              <a:rPr lang="en-US" sz="900" b="0" dirty="0" err="1">
                <a:solidFill>
                  <a:srgbClr val="DCDCAA"/>
                </a:solidFill>
                <a:effectLst/>
                <a:latin typeface="Consolas" panose="020B0609020204030204" pitchFamily="49" charset="0"/>
              </a:rPr>
              <a:t>use</a:t>
            </a:r>
            <a:r>
              <a:rPr lang="en-US" sz="900" b="0" dirty="0">
                <a:solidFill>
                  <a:srgbClr val="CCCCCC"/>
                </a:solidFill>
                <a:effectLst/>
                <a:latin typeface="Consolas" panose="020B0609020204030204" pitchFamily="49" charset="0"/>
              </a:rPr>
              <a:t>(</a:t>
            </a:r>
            <a:r>
              <a:rPr lang="en-US" sz="900" b="0" dirty="0" err="1">
                <a:solidFill>
                  <a:srgbClr val="DCDCAA"/>
                </a:solidFill>
                <a:effectLst/>
                <a:latin typeface="Consolas" panose="020B0609020204030204" pitchFamily="49" charset="0"/>
              </a:rPr>
              <a:t>cookieParser</a:t>
            </a:r>
            <a:r>
              <a:rPr lang="en-US" sz="900" b="0" dirty="0">
                <a:solidFill>
                  <a:srgbClr val="CCCCCC"/>
                </a:solidFill>
                <a:effectLst/>
                <a:latin typeface="Consolas" panose="020B0609020204030204" pitchFamily="49" charset="0"/>
              </a:rPr>
              <a:t>()); </a:t>
            </a:r>
          </a:p>
          <a:p>
            <a:br>
              <a:rPr lang="en-US" sz="900" b="0" dirty="0">
                <a:solidFill>
                  <a:srgbClr val="CCCCCC"/>
                </a:solidFill>
                <a:effectLst/>
                <a:latin typeface="Consolas" panose="020B0609020204030204" pitchFamily="49" charset="0"/>
              </a:rPr>
            </a:br>
            <a:r>
              <a:rPr lang="en-US" sz="900" b="0" dirty="0">
                <a:solidFill>
                  <a:srgbClr val="6A9955"/>
                </a:solidFill>
                <a:effectLst/>
                <a:latin typeface="Consolas" panose="020B0609020204030204" pitchFamily="49" charset="0"/>
              </a:rPr>
              <a:t>//</a:t>
            </a:r>
            <a:r>
              <a:rPr lang="en-US" sz="900" b="0" dirty="0" err="1">
                <a:solidFill>
                  <a:srgbClr val="6A9955"/>
                </a:solidFill>
                <a:effectLst/>
                <a:latin typeface="Consolas" panose="020B0609020204030204" pitchFamily="49" charset="0"/>
              </a:rPr>
              <a:t>nformations</a:t>
            </a:r>
            <a:r>
              <a:rPr lang="en-US" sz="900" b="0" dirty="0">
                <a:solidFill>
                  <a:srgbClr val="6A9955"/>
                </a:solidFill>
                <a:effectLst/>
                <a:latin typeface="Consolas" panose="020B0609020204030204" pitchFamily="49" charset="0"/>
              </a:rPr>
              <a:t> de la base de </a:t>
            </a:r>
            <a:r>
              <a:rPr lang="en-US" sz="900" b="0" dirty="0" err="1">
                <a:solidFill>
                  <a:srgbClr val="6A9955"/>
                </a:solidFill>
                <a:effectLst/>
                <a:latin typeface="Consolas" panose="020B0609020204030204" pitchFamily="49" charset="0"/>
              </a:rPr>
              <a:t>donnée</a:t>
            </a:r>
            <a:endParaRPr lang="en-US" sz="900" b="0" dirty="0">
              <a:solidFill>
                <a:srgbClr val="CCCCCC"/>
              </a:solidFill>
              <a:effectLst/>
              <a:latin typeface="Consolas" panose="020B0609020204030204" pitchFamily="49" charset="0"/>
            </a:endParaRPr>
          </a:p>
          <a:p>
            <a:r>
              <a:rPr lang="en-US" sz="900" b="0" dirty="0">
                <a:solidFill>
                  <a:srgbClr val="569CD6"/>
                </a:solidFill>
                <a:effectLst/>
                <a:latin typeface="Consolas" panose="020B0609020204030204" pitchFamily="49" charset="0"/>
              </a:rPr>
              <a:t>var</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con</a:t>
            </a:r>
            <a:r>
              <a:rPr lang="en-US" sz="900" b="0" dirty="0">
                <a:solidFill>
                  <a:srgbClr val="CCCCCC"/>
                </a:solidFill>
                <a:effectLst/>
                <a:latin typeface="Consolas" panose="020B0609020204030204" pitchFamily="49" charset="0"/>
              </a:rPr>
              <a:t> </a:t>
            </a:r>
            <a:r>
              <a:rPr lang="en-US" sz="900" b="0" dirty="0">
                <a:solidFill>
                  <a:srgbClr val="D4D4D4"/>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mysql</a:t>
            </a:r>
            <a:r>
              <a:rPr lang="en-US" sz="900" b="0" dirty="0" err="1">
                <a:solidFill>
                  <a:srgbClr val="CCCCCC"/>
                </a:solidFill>
                <a:effectLst/>
                <a:latin typeface="Consolas" panose="020B0609020204030204" pitchFamily="49" charset="0"/>
              </a:rPr>
              <a:t>.</a:t>
            </a:r>
            <a:r>
              <a:rPr lang="en-US" sz="900" b="0" dirty="0" err="1">
                <a:solidFill>
                  <a:srgbClr val="DCDCAA"/>
                </a:solidFill>
                <a:effectLst/>
                <a:latin typeface="Consolas" panose="020B0609020204030204" pitchFamily="49" charset="0"/>
              </a:rPr>
              <a:t>createConnection</a:t>
            </a:r>
            <a:r>
              <a:rPr lang="en-US" sz="900" b="0" dirty="0">
                <a:solidFill>
                  <a:srgbClr val="CCCCCC"/>
                </a:solidFill>
                <a:effectLst/>
                <a:latin typeface="Consolas" panose="020B0609020204030204" pitchFamily="49" charset="0"/>
              </a:rPr>
              <a:t>({</a:t>
            </a: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host:</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"localhost"</a:t>
            </a:r>
            <a:r>
              <a:rPr lang="en-US" sz="900" b="0" dirty="0">
                <a:solidFill>
                  <a:srgbClr val="CCCCCC"/>
                </a:solidFill>
                <a:effectLst/>
                <a:latin typeface="Consolas" panose="020B0609020204030204" pitchFamily="49" charset="0"/>
              </a:rPr>
              <a:t>,</a:t>
            </a: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user:</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"root"</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username</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password:</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a:t>
            </a:r>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 password</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database:</a:t>
            </a:r>
            <a:r>
              <a:rPr lang="en-US" sz="900" b="0" dirty="0">
                <a:solidFill>
                  <a:srgbClr val="CCCCCC"/>
                </a:solidFill>
                <a:effectLst/>
                <a:latin typeface="Consolas" panose="020B0609020204030204" pitchFamily="49" charset="0"/>
              </a:rPr>
              <a:t> </a:t>
            </a:r>
            <a:r>
              <a:rPr lang="en-US" sz="900" b="0" dirty="0">
                <a:solidFill>
                  <a:srgbClr val="CE9178"/>
                </a:solidFill>
                <a:effectLst/>
                <a:latin typeface="Consolas" panose="020B0609020204030204" pitchFamily="49" charset="0"/>
              </a:rPr>
              <a:t>"</a:t>
            </a:r>
            <a:r>
              <a:rPr lang="en-US" sz="900" b="0" dirty="0" err="1">
                <a:solidFill>
                  <a:srgbClr val="CE9178"/>
                </a:solidFill>
                <a:effectLst/>
                <a:latin typeface="Consolas" panose="020B0609020204030204" pitchFamily="49" charset="0"/>
              </a:rPr>
              <a:t>CompteUtilisateur</a:t>
            </a:r>
            <a:r>
              <a:rPr lang="en-US" sz="900" b="0" dirty="0">
                <a:solidFill>
                  <a:srgbClr val="CE9178"/>
                </a:solidFill>
                <a:effectLst/>
                <a:latin typeface="Consolas" panose="020B0609020204030204" pitchFamily="49" charset="0"/>
              </a:rPr>
              <a: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a:t>
            </a:r>
          </a:p>
          <a:p>
            <a:br>
              <a:rPr lang="en-US" sz="900" b="0" dirty="0">
                <a:solidFill>
                  <a:srgbClr val="CCCCCC"/>
                </a:solidFill>
                <a:effectLst/>
                <a:latin typeface="Consolas" panose="020B0609020204030204" pitchFamily="49" charset="0"/>
              </a:rPr>
            </a:br>
            <a:r>
              <a:rPr lang="en-US" sz="900" b="0" dirty="0" err="1">
                <a:solidFill>
                  <a:srgbClr val="4FC1FF"/>
                </a:solidFill>
                <a:effectLst/>
                <a:latin typeface="Consolas" panose="020B0609020204030204" pitchFamily="49" charset="0"/>
              </a:rPr>
              <a:t>app</a:t>
            </a:r>
            <a:r>
              <a:rPr lang="en-US" sz="900" b="0" dirty="0" err="1">
                <a:solidFill>
                  <a:srgbClr val="CCCCCC"/>
                </a:solidFill>
                <a:effectLst/>
                <a:latin typeface="Consolas" panose="020B0609020204030204" pitchFamily="49" charset="0"/>
              </a:rPr>
              <a:t>.</a:t>
            </a:r>
            <a:r>
              <a:rPr lang="en-US" sz="900" b="0" dirty="0" err="1">
                <a:solidFill>
                  <a:srgbClr val="DCDCAA"/>
                </a:solidFill>
                <a:effectLst/>
                <a:latin typeface="Consolas" panose="020B0609020204030204" pitchFamily="49" charset="0"/>
              </a:rPr>
              <a:t>listen</a:t>
            </a:r>
            <a:r>
              <a:rPr lang="en-US" sz="900" b="0" dirty="0">
                <a:solidFill>
                  <a:srgbClr val="CCCCCC"/>
                </a:solidFill>
                <a:effectLst/>
                <a:latin typeface="Consolas" panose="020B0609020204030204" pitchFamily="49" charset="0"/>
              </a:rPr>
              <a:t>(</a:t>
            </a:r>
            <a:r>
              <a:rPr lang="en-US" sz="900" b="0" dirty="0">
                <a:solidFill>
                  <a:srgbClr val="B5CEA8"/>
                </a:solidFill>
                <a:effectLst/>
                <a:latin typeface="Consolas" panose="020B0609020204030204" pitchFamily="49" charset="0"/>
              </a:rPr>
              <a:t>4000</a:t>
            </a:r>
            <a:r>
              <a:rPr lang="en-US" sz="900" b="0" dirty="0">
                <a:solidFill>
                  <a:srgbClr val="CCCCCC"/>
                </a:solidFill>
                <a:effectLst/>
                <a:latin typeface="Consolas" panose="020B0609020204030204" pitchFamily="49" charset="0"/>
              </a:rPr>
              <a:t>, ()</a:t>
            </a:r>
            <a:r>
              <a:rPr lang="en-US" sz="900" b="0" dirty="0">
                <a:solidFill>
                  <a:srgbClr val="569CD6"/>
                </a:solidFill>
                <a:effectLst/>
                <a:latin typeface="Consolas" panose="020B0609020204030204" pitchFamily="49" charset="0"/>
              </a:rPr>
              <a:t>=&gt;</a:t>
            </a:r>
            <a:r>
              <a:rPr lang="en-US" sz="900" b="0" dirty="0">
                <a:solidFill>
                  <a:srgbClr val="CCCCCC"/>
                </a:solidFill>
                <a:effectLst/>
                <a:latin typeface="Consolas" panose="020B0609020204030204" pitchFamily="49" charset="0"/>
              </a:rPr>
              <a:t>{</a:t>
            </a:r>
          </a:p>
          <a:p>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console</a:t>
            </a:r>
            <a:r>
              <a:rPr lang="en-US" sz="900" b="0" dirty="0">
                <a:solidFill>
                  <a:srgbClr val="CCCCCC"/>
                </a:solidFill>
                <a:effectLst/>
                <a:latin typeface="Consolas" panose="020B0609020204030204" pitchFamily="49" charset="0"/>
              </a:rPr>
              <a:t>.</a:t>
            </a:r>
            <a:r>
              <a:rPr lang="en-US" sz="900" b="0" dirty="0">
                <a:solidFill>
                  <a:srgbClr val="DCDCAA"/>
                </a:solidFill>
                <a:effectLst/>
                <a:latin typeface="Consolas" panose="020B0609020204030204" pitchFamily="49" charset="0"/>
              </a:rPr>
              <a:t>log</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"Server running on port 4000"</a:t>
            </a:r>
            <a:r>
              <a:rPr lang="en-US" sz="900" b="0" dirty="0">
                <a:solidFill>
                  <a:srgbClr val="CCCCCC"/>
                </a:solidFill>
                <a:effectLst/>
                <a:latin typeface="Consolas" panose="020B0609020204030204" pitchFamily="49" charset="0"/>
              </a:rPr>
              <a:t>);</a:t>
            </a:r>
          </a:p>
          <a:p>
            <a:r>
              <a:rPr lang="en-US" sz="900" b="0" dirty="0">
                <a:solidFill>
                  <a:srgbClr val="CCCCCC"/>
                </a:solidFill>
                <a:effectLst/>
                <a:latin typeface="Consolas" panose="020B0609020204030204" pitchFamily="49" charset="0"/>
              </a:rPr>
              <a:t> });</a:t>
            </a:r>
          </a:p>
          <a:p>
            <a:endParaRPr lang="en-US" sz="1000" dirty="0"/>
          </a:p>
        </p:txBody>
      </p:sp>
    </p:spTree>
    <p:extLst>
      <p:ext uri="{BB962C8B-B14F-4D97-AF65-F5344CB8AC3E}">
        <p14:creationId xmlns:p14="http://schemas.microsoft.com/office/powerpoint/2010/main" val="1296017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a:bodyPr>
          <a:lstStyle/>
          <a:p>
            <a:r>
              <a:rPr lang="fr-FR" sz="1200" dirty="0"/>
              <a:t>Exemple d’application 2 - </a:t>
            </a:r>
            <a:r>
              <a:rPr lang="fr-FR" sz="1200" dirty="0" err="1"/>
              <a:t>NodeJS</a:t>
            </a:r>
            <a:r>
              <a:rPr lang="fr-FR" sz="1200" dirty="0"/>
              <a:t> + Expresse.js</a:t>
            </a:r>
          </a:p>
          <a:p>
            <a:pPr lvl="1"/>
            <a:r>
              <a:rPr lang="fr-FR" sz="1200" dirty="0"/>
              <a:t>L ’erreur précédent nous dit clairement</a:t>
            </a:r>
          </a:p>
          <a:p>
            <a:pPr marL="457200" lvl="1" indent="0">
              <a:buNone/>
            </a:pPr>
            <a:r>
              <a:rPr lang="fr-FR" sz="1200" dirty="0"/>
              <a:t> que le formulaire « inscription.html » </a:t>
            </a:r>
          </a:p>
          <a:p>
            <a:pPr marL="457200" lvl="1" indent="0">
              <a:buNone/>
            </a:pPr>
            <a:r>
              <a:rPr lang="fr-FR" sz="1200" dirty="0"/>
              <a:t>n’existe pas encore</a:t>
            </a:r>
          </a:p>
          <a:p>
            <a:pPr lvl="1"/>
            <a:r>
              <a:rPr lang="fr-FR" sz="1200" dirty="0"/>
              <a:t>Créons le fichier « inscription.html » </a:t>
            </a:r>
          </a:p>
          <a:p>
            <a:pPr marL="457200" lvl="1" indent="0">
              <a:buNone/>
            </a:pPr>
            <a:r>
              <a:rPr lang="fr-FR" sz="1200" dirty="0"/>
              <a:t>et ajoutons-y code suivant:</a:t>
            </a:r>
          </a:p>
          <a:p>
            <a:pPr lvl="1"/>
            <a:r>
              <a:rPr lang="fr-FR" sz="1200" dirty="0"/>
              <a:t>Ca va mieux?</a:t>
            </a:r>
            <a:endParaRPr lang="fr-FR" sz="1600" dirty="0"/>
          </a:p>
          <a:p>
            <a:pPr lvl="1"/>
            <a:endParaRPr lang="fr-FR" sz="800" dirty="0"/>
          </a:p>
          <a:p>
            <a:pPr lvl="1"/>
            <a:endParaRPr lang="fr-FR" sz="300" dirty="0"/>
          </a:p>
          <a:p>
            <a:pPr marL="457200" lvl="1" indent="0">
              <a:buNone/>
            </a:pPr>
            <a:endParaRPr lang="fr-FR" dirty="0"/>
          </a:p>
          <a:p>
            <a:pPr marL="457200" lvl="1" indent="0">
              <a:buNone/>
            </a:pPr>
            <a:endParaRPr lang="fr-FR" dirty="0"/>
          </a:p>
          <a:p>
            <a:pPr marL="457200" lvl="1" indent="0">
              <a:buNone/>
            </a:pPr>
            <a:r>
              <a:rPr lang="fr-FR" dirty="0"/>
              <a:t>   </a:t>
            </a:r>
          </a:p>
          <a:p>
            <a:pPr lvl="1"/>
            <a:endParaRPr lang="fr-FR" dirty="0"/>
          </a:p>
          <a:p>
            <a:pPr marL="0" indent="0">
              <a:buNone/>
            </a:pPr>
            <a:endParaRPr lang="en-US" dirty="0"/>
          </a:p>
        </p:txBody>
      </p:sp>
      <p:sp>
        <p:nvSpPr>
          <p:cNvPr id="14" name="ZoneTexte 13">
            <a:extLst>
              <a:ext uri="{FF2B5EF4-FFF2-40B4-BE49-F238E27FC236}">
                <a16:creationId xmlns:a16="http://schemas.microsoft.com/office/drawing/2014/main" id="{6DC3FD39-28DC-3BAC-6E49-DFE92C7D513D}"/>
              </a:ext>
            </a:extLst>
          </p:cNvPr>
          <p:cNvSpPr txBox="1"/>
          <p:nvPr/>
        </p:nvSpPr>
        <p:spPr>
          <a:xfrm>
            <a:off x="4398264" y="1071801"/>
            <a:ext cx="7949184" cy="5786199"/>
          </a:xfrm>
          <a:prstGeom prst="rect">
            <a:avLst/>
          </a:prstGeom>
          <a:solidFill>
            <a:schemeClr val="tx1"/>
          </a:solidFill>
        </p:spPr>
        <p:txBody>
          <a:bodyPr wrap="square" rtlCol="0">
            <a:spAutoFit/>
          </a:bodyPr>
          <a:lstStyle/>
          <a:p>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DOCTYPE</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html</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html</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lang</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a:t>
            </a:r>
            <a:r>
              <a:rPr lang="en-US" sz="1000" b="0" dirty="0" err="1">
                <a:solidFill>
                  <a:srgbClr val="CE9178"/>
                </a:solidFill>
                <a:effectLst/>
                <a:latin typeface="Consolas" panose="020B0609020204030204" pitchFamily="49" charset="0"/>
              </a:rPr>
              <a:t>en</a:t>
            </a:r>
            <a:r>
              <a:rPr lang="en-US" sz="1000" b="0" dirty="0">
                <a:solidFill>
                  <a:srgbClr val="CE9178"/>
                </a:solidFill>
                <a:effectLst/>
                <a:latin typeface="Consolas" panose="020B0609020204030204" pitchFamily="49" charset="0"/>
              </a:rPr>
              <a:t>"</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head</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title</a:t>
            </a:r>
            <a:r>
              <a:rPr lang="en-US" sz="1000" b="0" dirty="0">
                <a:solidFill>
                  <a:srgbClr val="808080"/>
                </a:solidFill>
                <a:effectLst/>
                <a:latin typeface="Consolas" panose="020B0609020204030204" pitchFamily="49" charset="0"/>
              </a:rPr>
              <a:t>&gt;</a:t>
            </a:r>
            <a:r>
              <a:rPr lang="en-US" sz="1000" b="0" dirty="0" err="1">
                <a:solidFill>
                  <a:srgbClr val="CCCCCC"/>
                </a:solidFill>
                <a:effectLst/>
                <a:latin typeface="Consolas" panose="020B0609020204030204" pitchFamily="49" charset="0"/>
              </a:rPr>
              <a:t>Formulaire</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d'inscription</a:t>
            </a:r>
            <a:r>
              <a:rPr lang="en-US" sz="1000" b="0" dirty="0">
                <a:solidFill>
                  <a:srgbClr val="CCCCCC"/>
                </a:solidFill>
                <a:effectLst/>
                <a:latin typeface="Consolas" panose="020B0609020204030204" pitchFamily="49" charset="0"/>
              </a:rPr>
              <a:t> et de login avec Node.js, Express.js and MySQL</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title</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meta</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charset</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"UTF-8"</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meta</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name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"viewport"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content</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"width=device-width, initial-scale=1"</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link</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href</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"https://cdn.jsdelivr.net/</a:t>
            </a:r>
            <a:r>
              <a:rPr lang="en-US" sz="1000" b="0" dirty="0" err="1">
                <a:solidFill>
                  <a:srgbClr val="CE9178"/>
                </a:solidFill>
                <a:effectLst/>
                <a:latin typeface="Consolas" panose="020B0609020204030204" pitchFamily="49" charset="0"/>
              </a:rPr>
              <a:t>npm</a:t>
            </a:r>
            <a:r>
              <a:rPr lang="en-US" sz="1000" b="0" dirty="0">
                <a:solidFill>
                  <a:srgbClr val="CE9178"/>
                </a:solidFill>
                <a:effectLst/>
                <a:latin typeface="Consolas" panose="020B0609020204030204" pitchFamily="49" charset="0"/>
              </a:rPr>
              <a:t>/bootstrap@5.1.3/</a:t>
            </a:r>
            <a:r>
              <a:rPr lang="en-US" sz="1000" b="0" dirty="0" err="1">
                <a:solidFill>
                  <a:srgbClr val="CE9178"/>
                </a:solidFill>
                <a:effectLst/>
                <a:latin typeface="Consolas" panose="020B0609020204030204" pitchFamily="49" charset="0"/>
              </a:rPr>
              <a:t>dist</a:t>
            </a:r>
            <a:r>
              <a:rPr lang="en-US" sz="1000" b="0" dirty="0">
                <a:solidFill>
                  <a:srgbClr val="CE9178"/>
                </a:solidFill>
                <a:effectLst/>
                <a:latin typeface="Consolas" panose="020B0609020204030204" pitchFamily="49" charset="0"/>
              </a:rPr>
              <a:t>/</a:t>
            </a:r>
            <a:r>
              <a:rPr lang="en-US" sz="1000" b="0" dirty="0" err="1">
                <a:solidFill>
                  <a:srgbClr val="CE9178"/>
                </a:solidFill>
                <a:effectLst/>
                <a:latin typeface="Consolas" panose="020B0609020204030204" pitchFamily="49" charset="0"/>
              </a:rPr>
              <a:t>css</a:t>
            </a:r>
            <a:r>
              <a:rPr lang="en-US" sz="1000" b="0" dirty="0">
                <a:solidFill>
                  <a:srgbClr val="CE9178"/>
                </a:solidFill>
                <a:effectLst/>
                <a:latin typeface="Consolas" panose="020B0609020204030204" pitchFamily="49" charset="0"/>
              </a:rPr>
              <a:t>/bootstrap.min.css"</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rel</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"stylesheet"</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head</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body</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"container"</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h2</a:t>
            </a:r>
            <a:r>
              <a:rPr lang="en-US" sz="1000" b="0" dirty="0">
                <a:solidFill>
                  <a:srgbClr val="808080"/>
                </a:solidFill>
                <a:effectLst/>
                <a:latin typeface="Consolas" panose="020B0609020204030204" pitchFamily="49" charset="0"/>
              </a:rPr>
              <a:t>&gt;</a:t>
            </a:r>
            <a:r>
              <a:rPr lang="en-US" sz="1000" b="0" dirty="0" err="1">
                <a:solidFill>
                  <a:srgbClr val="CCCCCC"/>
                </a:solidFill>
                <a:effectLst/>
                <a:latin typeface="Consolas" panose="020B0609020204030204" pitchFamily="49" charset="0"/>
              </a:rPr>
              <a:t>Formulaire</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d'inscription</a:t>
            </a:r>
            <a:r>
              <a:rPr lang="en-US" sz="1000" b="0" dirty="0">
                <a:solidFill>
                  <a:srgbClr val="CCCCCC"/>
                </a:solidFill>
                <a:effectLst/>
                <a:latin typeface="Consolas" panose="020B0609020204030204" pitchFamily="49" charset="0"/>
              </a:rPr>
              <a:t> et de login avec Node.js, Express.js and MySQL</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h2</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h3</a:t>
            </a:r>
            <a:r>
              <a:rPr lang="en-US" sz="1000" b="0" dirty="0">
                <a:solidFill>
                  <a:srgbClr val="808080"/>
                </a:solidFill>
                <a:effectLst/>
                <a:latin typeface="Consolas" panose="020B0609020204030204" pitchFamily="49" charset="0"/>
              </a:rPr>
              <a:t>&gt;</a:t>
            </a:r>
            <a:r>
              <a:rPr lang="en-US" sz="1000" b="0" dirty="0" err="1">
                <a:solidFill>
                  <a:srgbClr val="CCCCCC"/>
                </a:solidFill>
                <a:effectLst/>
                <a:latin typeface="Consolas" panose="020B0609020204030204" pitchFamily="49" charset="0"/>
              </a:rPr>
              <a:t>Formulaire</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d'inscription</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h3</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form</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action</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"/register"</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method</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"POST"</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"form-group mb-3"</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r>
              <a:rPr lang="en-US" sz="1000" b="0" dirty="0" err="1">
                <a:solidFill>
                  <a:srgbClr val="CCCCCC"/>
                </a:solidFill>
                <a:effectLst/>
                <a:latin typeface="Consolas" panose="020B0609020204030204" pitchFamily="49" charset="0"/>
              </a:rPr>
              <a:t>Prénom</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input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type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"text"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"form-control"</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placeholder</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a:t>
            </a:r>
            <a:r>
              <a:rPr lang="en-US" sz="1000" b="0" dirty="0" err="1">
                <a:solidFill>
                  <a:srgbClr val="CE9178"/>
                </a:solidFill>
                <a:effectLst/>
                <a:latin typeface="Consolas" panose="020B0609020204030204" pitchFamily="49" charset="0"/>
              </a:rPr>
              <a:t>Prénom</a:t>
            </a:r>
            <a:r>
              <a:rPr lang="en-US" sz="1000" b="0" dirty="0">
                <a:solidFill>
                  <a:srgbClr val="CE9178"/>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name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a:t>
            </a:r>
            <a:r>
              <a:rPr lang="en-US" sz="1000" b="0" dirty="0" err="1">
                <a:solidFill>
                  <a:srgbClr val="CE9178"/>
                </a:solidFill>
                <a:effectLst/>
                <a:latin typeface="Consolas" panose="020B0609020204030204" pitchFamily="49" charset="0"/>
              </a:rPr>
              <a:t>prenom</a:t>
            </a:r>
            <a:r>
              <a:rPr lang="en-US" sz="1000" b="0" dirty="0">
                <a:solidFill>
                  <a:srgbClr val="CE9178"/>
                </a:solidFill>
                <a:effectLst/>
                <a:latin typeface="Consolas" panose="020B0609020204030204" pitchFamily="49" charset="0"/>
              </a:rPr>
              <a:t>"</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"form-group mb-3"</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r>
              <a:rPr lang="en-US" sz="1000" b="0" dirty="0">
                <a:solidFill>
                  <a:srgbClr val="CCCCCC"/>
                </a:solidFill>
                <a:effectLst/>
                <a:latin typeface="Consolas" panose="020B0609020204030204" pitchFamily="49" charset="0"/>
              </a:rPr>
              <a:t>Nom</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input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type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"text"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"form-control"</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placeholder</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"Nom"</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name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"nom"</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"form-group mb-3"</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r>
              <a:rPr lang="en-US" sz="1000" b="0" dirty="0">
                <a:solidFill>
                  <a:srgbClr val="CCCCCC"/>
                </a:solidFill>
                <a:effectLst/>
                <a:latin typeface="Consolas" panose="020B0609020204030204" pitchFamily="49" charset="0"/>
              </a:rPr>
              <a:t>Nom </a:t>
            </a:r>
            <a:r>
              <a:rPr lang="en-US" sz="1000" b="0" dirty="0" err="1">
                <a:solidFill>
                  <a:srgbClr val="CCCCCC"/>
                </a:solidFill>
                <a:effectLst/>
                <a:latin typeface="Consolas" panose="020B0609020204030204" pitchFamily="49" charset="0"/>
              </a:rPr>
              <a:t>d'utilisateur</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input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type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"text"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"form-control"</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placeholder</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"Nom </a:t>
            </a:r>
            <a:r>
              <a:rPr lang="en-US" sz="1000" b="0" dirty="0" err="1">
                <a:solidFill>
                  <a:srgbClr val="CE9178"/>
                </a:solidFill>
                <a:effectLst/>
                <a:latin typeface="Consolas" panose="020B0609020204030204" pitchFamily="49" charset="0"/>
              </a:rPr>
              <a:t>d'utilisateur</a:t>
            </a:r>
            <a:r>
              <a:rPr lang="en-US" sz="1000" b="0" dirty="0">
                <a:solidFill>
                  <a:srgbClr val="CE9178"/>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name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a:t>
            </a:r>
            <a:r>
              <a:rPr lang="en-US" sz="1000" b="0" dirty="0" err="1">
                <a:solidFill>
                  <a:srgbClr val="CE9178"/>
                </a:solidFill>
                <a:effectLst/>
                <a:latin typeface="Consolas" panose="020B0609020204030204" pitchFamily="49" charset="0"/>
              </a:rPr>
              <a:t>numUtilisateur</a:t>
            </a:r>
            <a:r>
              <a:rPr lang="en-US" sz="1000" b="0" dirty="0">
                <a:solidFill>
                  <a:srgbClr val="CE9178"/>
                </a:solidFill>
                <a:effectLst/>
                <a:latin typeface="Consolas" panose="020B0609020204030204" pitchFamily="49" charset="0"/>
              </a:rPr>
              <a:t>"</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"form-group mb-3"</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r>
              <a:rPr lang="en-US" sz="1000" b="0" dirty="0">
                <a:solidFill>
                  <a:srgbClr val="CCCCCC"/>
                </a:solidFill>
                <a:effectLst/>
                <a:latin typeface="Consolas" panose="020B0609020204030204" pitchFamily="49" charset="0"/>
              </a:rPr>
              <a:t>Password</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label</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input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type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"password"</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"form-control"</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placeholder</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"Password"</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name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"password"</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"d-grid mt-3"</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button</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type</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"submit"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class</a:t>
            </a:r>
            <a:r>
              <a:rPr lang="en-US" sz="1000" b="0" dirty="0">
                <a:solidFill>
                  <a:srgbClr val="CCCCCC"/>
                </a:solidFill>
                <a:effectLst/>
                <a:latin typeface="Consolas" panose="020B0609020204030204" pitchFamily="49" charset="0"/>
              </a:rPr>
              <a:t>=</a:t>
            </a:r>
            <a:r>
              <a:rPr lang="en-US" sz="1000" b="0" dirty="0">
                <a:solidFill>
                  <a:srgbClr val="CE9178"/>
                </a:solidFill>
                <a:effectLst/>
                <a:latin typeface="Consolas" panose="020B0609020204030204" pitchFamily="49" charset="0"/>
              </a:rPr>
              <a:t>"</a:t>
            </a:r>
            <a:r>
              <a:rPr lang="en-US" sz="1000" b="0" dirty="0" err="1">
                <a:solidFill>
                  <a:srgbClr val="CE9178"/>
                </a:solidFill>
                <a:effectLst/>
                <a:latin typeface="Consolas" panose="020B0609020204030204" pitchFamily="49" charset="0"/>
              </a:rPr>
              <a:t>btn</a:t>
            </a:r>
            <a:r>
              <a:rPr lang="en-US" sz="1000" b="0" dirty="0">
                <a:solidFill>
                  <a:srgbClr val="CE9178"/>
                </a:solidFill>
                <a:effectLst/>
                <a:latin typeface="Consolas" panose="020B0609020204030204" pitchFamily="49" charset="0"/>
              </a:rPr>
              <a:t> </a:t>
            </a:r>
            <a:r>
              <a:rPr lang="en-US" sz="1000" b="0" dirty="0" err="1">
                <a:solidFill>
                  <a:srgbClr val="CE9178"/>
                </a:solidFill>
                <a:effectLst/>
                <a:latin typeface="Consolas" panose="020B0609020204030204" pitchFamily="49" charset="0"/>
              </a:rPr>
              <a:t>btn</a:t>
            </a:r>
            <a:r>
              <a:rPr lang="en-US" sz="1000" b="0" dirty="0">
                <a:solidFill>
                  <a:srgbClr val="CE9178"/>
                </a:solidFill>
                <a:effectLst/>
                <a:latin typeface="Consolas" panose="020B0609020204030204" pitchFamily="49" charset="0"/>
              </a:rPr>
              <a:t>-primary form-control"</a:t>
            </a:r>
            <a:r>
              <a:rPr lang="en-US" sz="1000" b="0" dirty="0">
                <a:solidFill>
                  <a:srgbClr val="808080"/>
                </a:solidFill>
                <a:effectLst/>
                <a:latin typeface="Consolas" panose="020B0609020204030204" pitchFamily="49" charset="0"/>
              </a:rPr>
              <a:t>&gt;</a:t>
            </a:r>
            <a:r>
              <a:rPr lang="en-US" sz="1000" b="0" dirty="0">
                <a:solidFill>
                  <a:srgbClr val="CCCCCC"/>
                </a:solidFill>
                <a:effectLst/>
                <a:latin typeface="Consolas" panose="020B0609020204030204" pitchFamily="49" charset="0"/>
              </a:rPr>
              <a:t>Submit</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button</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form</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div</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CCCCC"/>
                </a:solidFill>
                <a:effectLst/>
                <a:latin typeface="Consolas" panose="020B0609020204030204" pitchFamily="49" charset="0"/>
              </a:rPr>
              <a:t>  </a:t>
            </a:r>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body</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808080"/>
                </a:solidFill>
                <a:effectLst/>
                <a:latin typeface="Consolas" panose="020B0609020204030204" pitchFamily="49" charset="0"/>
              </a:rPr>
              <a:t>&lt;/</a:t>
            </a:r>
            <a:r>
              <a:rPr lang="en-US" sz="1000" b="0" dirty="0">
                <a:solidFill>
                  <a:srgbClr val="569CD6"/>
                </a:solidFill>
                <a:effectLst/>
                <a:latin typeface="Consolas" panose="020B0609020204030204" pitchFamily="49" charset="0"/>
              </a:rPr>
              <a:t>html</a:t>
            </a:r>
            <a:r>
              <a:rPr lang="en-US" sz="1000" b="0" dirty="0">
                <a:solidFill>
                  <a:srgbClr val="808080"/>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endParaRPr lang="en-US" sz="1000" dirty="0"/>
          </a:p>
        </p:txBody>
      </p:sp>
    </p:spTree>
    <p:extLst>
      <p:ext uri="{BB962C8B-B14F-4D97-AF65-F5344CB8AC3E}">
        <p14:creationId xmlns:p14="http://schemas.microsoft.com/office/powerpoint/2010/main" val="1766664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1331FBA1-FAAE-D9F1-3311-5279B68B175B}"/>
              </a:ext>
            </a:extLst>
          </p:cNvPr>
          <p:cNvSpPr>
            <a:spLocks noGrp="1"/>
          </p:cNvSpPr>
          <p:nvPr>
            <p:ph type="title"/>
          </p:nvPr>
        </p:nvSpPr>
        <p:spPr>
          <a:xfrm>
            <a:off x="852829" y="308674"/>
            <a:ext cx="10972440" cy="1144800"/>
          </a:xfrm>
        </p:spPr>
        <p:txBody>
          <a:bodyPr/>
          <a:lstStyle/>
          <a:p>
            <a:r>
              <a:rPr lang="fr-FR" sz="3200" b="1" dirty="0">
                <a:solidFill>
                  <a:srgbClr val="009BB9"/>
                </a:solidFill>
                <a:effectLst/>
                <a:latin typeface="Segoe UI" panose="020B0502040204020203" pitchFamily="34" charset="0"/>
              </a:rPr>
              <a:t>1. </a:t>
            </a:r>
            <a:r>
              <a:rPr lang="fr-FR" sz="3200" b="1" dirty="0" err="1">
                <a:solidFill>
                  <a:srgbClr val="009BB9"/>
                </a:solidFill>
                <a:effectLst/>
                <a:latin typeface="Segoe UI" panose="020B0502040204020203" pitchFamily="34" charset="0"/>
              </a:rPr>
              <a:t>NodeJS</a:t>
            </a:r>
            <a:r>
              <a:rPr lang="fr-FR" sz="3200" b="1" dirty="0">
                <a:solidFill>
                  <a:srgbClr val="009BB9"/>
                </a:solidFill>
                <a:effectLst/>
                <a:latin typeface="Segoe UI" panose="020B0502040204020203" pitchFamily="34" charset="0"/>
              </a:rPr>
              <a:t> par la pratique</a:t>
            </a:r>
            <a:endParaRPr lang="fr-FR" sz="3200" b="1" dirty="0">
              <a:solidFill>
                <a:srgbClr val="009BB9"/>
              </a:solidFill>
            </a:endParaRPr>
          </a:p>
        </p:txBody>
      </p:sp>
      <p:sp>
        <p:nvSpPr>
          <p:cNvPr id="3" name="Espace réservé du contenu 2">
            <a:extLst>
              <a:ext uri="{FF2B5EF4-FFF2-40B4-BE49-F238E27FC236}">
                <a16:creationId xmlns:a16="http://schemas.microsoft.com/office/drawing/2014/main" id="{66266E41-4349-585B-FD5A-9EA3AB9940F1}"/>
              </a:ext>
            </a:extLst>
          </p:cNvPr>
          <p:cNvSpPr>
            <a:spLocks noGrp="1"/>
          </p:cNvSpPr>
          <p:nvPr>
            <p:ph idx="1"/>
          </p:nvPr>
        </p:nvSpPr>
        <p:spPr>
          <a:xfrm>
            <a:off x="609480" y="1228165"/>
            <a:ext cx="10972440" cy="4607859"/>
          </a:xfrm>
        </p:spPr>
        <p:txBody>
          <a:bodyPr>
            <a:normAutofit fontScale="47500" lnSpcReduction="20000"/>
          </a:bodyPr>
          <a:lstStyle/>
          <a:p>
            <a:r>
              <a:rPr lang="fr-FR" sz="3600" dirty="0"/>
              <a:t>Exemple d’application 2 - </a:t>
            </a:r>
            <a:r>
              <a:rPr lang="fr-FR" sz="3600" dirty="0" err="1"/>
              <a:t>NodeJS</a:t>
            </a:r>
            <a:r>
              <a:rPr lang="fr-FR" sz="3600" dirty="0"/>
              <a:t> + Expresse.js</a:t>
            </a:r>
          </a:p>
          <a:p>
            <a:pPr lvl="1"/>
            <a:r>
              <a:rPr lang="fr-FR" sz="2900" dirty="0"/>
              <a:t>Indiquer la page racine qui est « inscription.html » en ajouter le code suivant, juste après les infos de la base de données</a:t>
            </a:r>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marL="457200" lvl="1" indent="0">
              <a:buNone/>
            </a:pPr>
            <a:endParaRPr lang="fr-FR" sz="1200" dirty="0"/>
          </a:p>
          <a:p>
            <a:pPr lvl="1"/>
            <a:endParaRPr lang="fr-FR" sz="2100" dirty="0"/>
          </a:p>
          <a:p>
            <a:pPr marL="457200" lvl="1" indent="0">
              <a:buNone/>
            </a:pPr>
            <a:r>
              <a:rPr lang="fr-FR" sz="2100" dirty="0"/>
              <a:t>NB: __</a:t>
            </a:r>
            <a:r>
              <a:rPr lang="fr-FR" sz="2100" dirty="0" err="1"/>
              <a:t>dirname</a:t>
            </a:r>
            <a:r>
              <a:rPr lang="fr-FR" sz="2100" dirty="0"/>
              <a:t> est le nom du </a:t>
            </a:r>
            <a:r>
              <a:rPr lang="fr-FR" sz="2100" dirty="0" err="1"/>
              <a:t>repertoire</a:t>
            </a:r>
            <a:r>
              <a:rPr lang="fr-FR" sz="2100" dirty="0"/>
              <a:t> du projet. Il est </a:t>
            </a:r>
            <a:r>
              <a:rPr lang="fr-FR" sz="2100" dirty="0" err="1"/>
              <a:t>concatené</a:t>
            </a:r>
            <a:r>
              <a:rPr lang="fr-FR" sz="2100" dirty="0"/>
              <a:t> avec /</a:t>
            </a:r>
            <a:r>
              <a:rPr lang="fr-FR" sz="2100" dirty="0" err="1"/>
              <a:t>inscription,html</a:t>
            </a:r>
            <a:r>
              <a:rPr lang="fr-FR" sz="2100" dirty="0"/>
              <a:t>.</a:t>
            </a:r>
          </a:p>
          <a:p>
            <a:pPr lvl="1"/>
            <a:r>
              <a:rPr lang="fr-FR" sz="3800" dirty="0"/>
              <a:t>Redémarrez le server et remarquer le message suivant:</a:t>
            </a:r>
          </a:p>
          <a:p>
            <a:pPr lvl="1"/>
            <a:endParaRPr lang="fr-FR" sz="800" dirty="0"/>
          </a:p>
          <a:p>
            <a:pPr lvl="1"/>
            <a:endParaRPr lang="fr-FR" sz="300" dirty="0"/>
          </a:p>
          <a:p>
            <a:pPr marL="457200" lvl="1" indent="0">
              <a:buNone/>
            </a:pPr>
            <a:endParaRPr lang="fr-FR" dirty="0"/>
          </a:p>
          <a:p>
            <a:pPr marL="457200" lvl="1" indent="0">
              <a:buNone/>
            </a:pPr>
            <a:endParaRPr lang="fr-FR" dirty="0"/>
          </a:p>
          <a:p>
            <a:pPr marL="457200" lvl="1" indent="0">
              <a:buNone/>
            </a:pPr>
            <a:r>
              <a:rPr lang="fr-FR" dirty="0"/>
              <a:t>   </a:t>
            </a:r>
          </a:p>
          <a:p>
            <a:pPr lvl="1"/>
            <a:endParaRPr lang="fr-FR" dirty="0"/>
          </a:p>
          <a:p>
            <a:pPr marL="0" indent="0">
              <a:buNone/>
            </a:pPr>
            <a:endParaRPr lang="en-US" dirty="0"/>
          </a:p>
        </p:txBody>
      </p:sp>
      <p:sp>
        <p:nvSpPr>
          <p:cNvPr id="8" name="ZoneTexte 7">
            <a:extLst>
              <a:ext uri="{FF2B5EF4-FFF2-40B4-BE49-F238E27FC236}">
                <a16:creationId xmlns:a16="http://schemas.microsoft.com/office/drawing/2014/main" id="{72C369B5-78A5-683F-947F-2F72AAB44F4F}"/>
              </a:ext>
            </a:extLst>
          </p:cNvPr>
          <p:cNvSpPr txBox="1"/>
          <p:nvPr/>
        </p:nvSpPr>
        <p:spPr>
          <a:xfrm>
            <a:off x="2705898" y="1708792"/>
            <a:ext cx="6438101" cy="2308324"/>
          </a:xfrm>
          <a:prstGeom prst="rect">
            <a:avLst/>
          </a:prstGeom>
          <a:solidFill>
            <a:schemeClr val="tx1"/>
          </a:solidFill>
        </p:spPr>
        <p:txBody>
          <a:bodyPr wrap="square" rtlCol="0">
            <a:spAutoFit/>
          </a:bodyPr>
          <a:lstStyle/>
          <a:p>
            <a:r>
              <a:rPr lang="fr-FR" b="0" dirty="0">
                <a:solidFill>
                  <a:srgbClr val="6A9955"/>
                </a:solidFill>
                <a:effectLst/>
                <a:latin typeface="Consolas" panose="020B0609020204030204" pitchFamily="49" charset="0"/>
              </a:rPr>
              <a:t>/*Route Express.js qui répond à une requête GET sur la racine ('/') </a:t>
            </a:r>
            <a:endParaRPr lang="fr-FR" b="0" dirty="0">
              <a:solidFill>
                <a:srgbClr val="CCCCCC"/>
              </a:solidFill>
              <a:effectLst/>
              <a:latin typeface="Consolas" panose="020B0609020204030204" pitchFamily="49" charset="0"/>
            </a:endParaRPr>
          </a:p>
          <a:p>
            <a:r>
              <a:rPr lang="fr-FR" b="0" dirty="0">
                <a:solidFill>
                  <a:srgbClr val="6A9955"/>
                </a:solidFill>
                <a:effectLst/>
                <a:latin typeface="Consolas" panose="020B0609020204030204" pitchFamily="49" charset="0"/>
              </a:rPr>
              <a:t> *du serveur en renvoyant le fichier HTML inscription.html.*/</a:t>
            </a:r>
            <a:endParaRPr lang="fr-FR" b="0" dirty="0">
              <a:solidFill>
                <a:srgbClr val="CCCCCC"/>
              </a:solidFill>
              <a:effectLst/>
              <a:latin typeface="Consolas" panose="020B0609020204030204" pitchFamily="49" charset="0"/>
            </a:endParaRPr>
          </a:p>
          <a:p>
            <a:r>
              <a:rPr lang="fr-FR" b="0" dirty="0" err="1">
                <a:solidFill>
                  <a:srgbClr val="4FC1FF"/>
                </a:solidFill>
                <a:effectLst/>
                <a:latin typeface="Consolas" panose="020B0609020204030204" pitchFamily="49" charset="0"/>
              </a:rPr>
              <a:t>app</a:t>
            </a:r>
            <a:r>
              <a:rPr lang="fr-FR" b="0" dirty="0" err="1">
                <a:solidFill>
                  <a:srgbClr val="CCCCCC"/>
                </a:solidFill>
                <a:effectLst/>
                <a:latin typeface="Consolas" panose="020B0609020204030204" pitchFamily="49" charset="0"/>
              </a:rPr>
              <a:t>.</a:t>
            </a:r>
            <a:r>
              <a:rPr lang="fr-FR" b="0" dirty="0" err="1">
                <a:solidFill>
                  <a:srgbClr val="DCDCAA"/>
                </a:solidFill>
                <a:effectLst/>
                <a:latin typeface="Consolas" panose="020B0609020204030204" pitchFamily="49" charset="0"/>
              </a:rPr>
              <a:t>get</a:t>
            </a:r>
            <a:r>
              <a:rPr lang="fr-FR" b="0" dirty="0">
                <a:solidFill>
                  <a:srgbClr val="CCCCCC"/>
                </a:solidFill>
                <a:effectLst/>
                <a:latin typeface="Consolas" panose="020B0609020204030204" pitchFamily="49" charset="0"/>
              </a:rPr>
              <a:t>(</a:t>
            </a:r>
            <a:r>
              <a:rPr lang="fr-FR" b="0" dirty="0">
                <a:solidFill>
                  <a:srgbClr val="CE9178"/>
                </a:solidFill>
                <a:effectLst/>
                <a:latin typeface="Consolas" panose="020B0609020204030204" pitchFamily="49" charset="0"/>
              </a:rPr>
              <a:t>'/'</a:t>
            </a:r>
            <a:r>
              <a:rPr lang="fr-FR" b="0" dirty="0">
                <a:solidFill>
                  <a:srgbClr val="CCCCCC"/>
                </a:solidFill>
                <a:effectLst/>
                <a:latin typeface="Consolas" panose="020B0609020204030204" pitchFamily="49" charset="0"/>
              </a:rPr>
              <a:t>, (</a:t>
            </a:r>
            <a:r>
              <a:rPr lang="fr-FR" b="0" dirty="0" err="1">
                <a:solidFill>
                  <a:srgbClr val="9CDCFE"/>
                </a:solidFill>
                <a:effectLst/>
                <a:latin typeface="Consolas" panose="020B0609020204030204" pitchFamily="49" charset="0"/>
              </a:rPr>
              <a:t>req</a:t>
            </a:r>
            <a:r>
              <a:rPr lang="fr-FR" b="0" dirty="0">
                <a:solidFill>
                  <a:srgbClr val="CCCCCC"/>
                </a:solidFill>
                <a:effectLst/>
                <a:latin typeface="Consolas" panose="020B0609020204030204" pitchFamily="49" charset="0"/>
              </a:rPr>
              <a:t>, </a:t>
            </a:r>
            <a:r>
              <a:rPr lang="fr-FR" b="0" dirty="0" err="1">
                <a:solidFill>
                  <a:srgbClr val="9CDCFE"/>
                </a:solidFill>
                <a:effectLst/>
                <a:latin typeface="Consolas" panose="020B0609020204030204" pitchFamily="49" charset="0"/>
              </a:rPr>
              <a:t>res</a:t>
            </a:r>
            <a:r>
              <a:rPr lang="fr-FR" b="0" dirty="0">
                <a:solidFill>
                  <a:srgbClr val="CCCCCC"/>
                </a:solidFill>
                <a:effectLst/>
                <a:latin typeface="Consolas" panose="020B0609020204030204" pitchFamily="49" charset="0"/>
              </a:rPr>
              <a:t>)</a:t>
            </a:r>
            <a:r>
              <a:rPr lang="fr-FR" b="0" dirty="0">
                <a:solidFill>
                  <a:srgbClr val="569CD6"/>
                </a:solidFill>
                <a:effectLst/>
                <a:latin typeface="Consolas" panose="020B0609020204030204" pitchFamily="49" charset="0"/>
              </a:rPr>
              <a:t>=&gt;</a:t>
            </a:r>
            <a:r>
              <a:rPr lang="fr-FR" b="0" dirty="0">
                <a:solidFill>
                  <a:srgbClr val="CCCCCC"/>
                </a:solidFill>
                <a:effectLst/>
                <a:latin typeface="Consolas" panose="020B0609020204030204" pitchFamily="49" charset="0"/>
              </a:rPr>
              <a:t>{</a:t>
            </a:r>
          </a:p>
          <a:p>
            <a:r>
              <a:rPr lang="fr-FR" b="0" dirty="0">
                <a:solidFill>
                  <a:srgbClr val="CCCCCC"/>
                </a:solidFill>
                <a:effectLst/>
                <a:latin typeface="Consolas" panose="020B0609020204030204" pitchFamily="49" charset="0"/>
              </a:rPr>
              <a:t>    </a:t>
            </a:r>
            <a:r>
              <a:rPr lang="fr-FR" b="0" dirty="0" err="1">
                <a:solidFill>
                  <a:srgbClr val="9CDCFE"/>
                </a:solidFill>
                <a:effectLst/>
                <a:latin typeface="Consolas" panose="020B0609020204030204" pitchFamily="49" charset="0"/>
              </a:rPr>
              <a:t>res</a:t>
            </a:r>
            <a:r>
              <a:rPr lang="fr-FR" b="0" dirty="0" err="1">
                <a:solidFill>
                  <a:srgbClr val="CCCCCC"/>
                </a:solidFill>
                <a:effectLst/>
                <a:latin typeface="Consolas" panose="020B0609020204030204" pitchFamily="49" charset="0"/>
              </a:rPr>
              <a:t>.</a:t>
            </a:r>
            <a:r>
              <a:rPr lang="fr-FR" b="0" dirty="0" err="1">
                <a:solidFill>
                  <a:srgbClr val="DCDCAA"/>
                </a:solidFill>
                <a:effectLst/>
                <a:latin typeface="Consolas" panose="020B0609020204030204" pitchFamily="49" charset="0"/>
              </a:rPr>
              <a:t>sendFile</a:t>
            </a:r>
            <a:r>
              <a:rPr lang="fr-FR" b="0" dirty="0">
                <a:solidFill>
                  <a:srgbClr val="CCCCCC"/>
                </a:solidFill>
                <a:effectLst/>
                <a:latin typeface="Consolas" panose="020B0609020204030204" pitchFamily="49" charset="0"/>
              </a:rPr>
              <a:t>(</a:t>
            </a:r>
            <a:r>
              <a:rPr lang="fr-FR" b="0" dirty="0">
                <a:solidFill>
                  <a:srgbClr val="9CDCFE"/>
                </a:solidFill>
                <a:effectLst/>
                <a:latin typeface="Consolas" panose="020B0609020204030204" pitchFamily="49" charset="0"/>
              </a:rPr>
              <a:t>__</a:t>
            </a:r>
            <a:r>
              <a:rPr lang="fr-FR" b="0" dirty="0" err="1">
                <a:solidFill>
                  <a:srgbClr val="9CDCFE"/>
                </a:solidFill>
                <a:effectLst/>
                <a:latin typeface="Consolas" panose="020B0609020204030204" pitchFamily="49" charset="0"/>
              </a:rPr>
              <a:t>dirname</a:t>
            </a:r>
            <a:r>
              <a:rPr lang="fr-FR" b="0" dirty="0">
                <a:solidFill>
                  <a:srgbClr val="D4D4D4"/>
                </a:solidFill>
                <a:effectLst/>
                <a:latin typeface="Consolas" panose="020B0609020204030204" pitchFamily="49" charset="0"/>
              </a:rPr>
              <a:t>+</a:t>
            </a:r>
            <a:r>
              <a:rPr lang="fr-FR" b="0" dirty="0">
                <a:solidFill>
                  <a:srgbClr val="CE9178"/>
                </a:solidFill>
                <a:effectLst/>
                <a:latin typeface="Consolas" panose="020B0609020204030204" pitchFamily="49" charset="0"/>
              </a:rPr>
              <a:t>'/inscription.html'</a:t>
            </a:r>
            <a:r>
              <a:rPr lang="fr-FR" b="0" dirty="0">
                <a:solidFill>
                  <a:srgbClr val="CCCCCC"/>
                </a:solidFill>
                <a:effectLst/>
                <a:latin typeface="Consolas" panose="020B0609020204030204" pitchFamily="49" charset="0"/>
              </a:rPr>
              <a:t>);</a:t>
            </a:r>
          </a:p>
          <a:p>
            <a:r>
              <a:rPr lang="fr-FR" b="0" dirty="0">
                <a:solidFill>
                  <a:srgbClr val="CCCCCC"/>
                </a:solidFill>
                <a:effectLst/>
                <a:latin typeface="Consolas" panose="020B0609020204030204" pitchFamily="49" charset="0"/>
              </a:rPr>
              <a:t>});</a:t>
            </a:r>
          </a:p>
          <a:p>
            <a:endParaRPr lang="fr-FR" b="0" dirty="0">
              <a:solidFill>
                <a:srgbClr val="CCCCCC"/>
              </a:solidFill>
              <a:effectLst/>
              <a:latin typeface="Consolas" panose="020B0609020204030204" pitchFamily="49" charset="0"/>
            </a:endParaRPr>
          </a:p>
        </p:txBody>
      </p:sp>
      <p:pic>
        <p:nvPicPr>
          <p:cNvPr id="12" name="Image 11">
            <a:extLst>
              <a:ext uri="{FF2B5EF4-FFF2-40B4-BE49-F238E27FC236}">
                <a16:creationId xmlns:a16="http://schemas.microsoft.com/office/drawing/2014/main" id="{71BA5A56-1CB8-DB4D-51EB-631C8DB3C434}"/>
              </a:ext>
            </a:extLst>
          </p:cNvPr>
          <p:cNvPicPr>
            <a:picLocks noChangeAspect="1"/>
          </p:cNvPicPr>
          <p:nvPr/>
        </p:nvPicPr>
        <p:blipFill>
          <a:blip r:embed="rId2"/>
          <a:stretch>
            <a:fillRect/>
          </a:stretch>
        </p:blipFill>
        <p:spPr>
          <a:xfrm>
            <a:off x="980061" y="4936607"/>
            <a:ext cx="10231278" cy="724001"/>
          </a:xfrm>
          <a:prstGeom prst="rect">
            <a:avLst/>
          </a:prstGeom>
        </p:spPr>
      </p:pic>
    </p:spTree>
    <p:extLst>
      <p:ext uri="{BB962C8B-B14F-4D97-AF65-F5344CB8AC3E}">
        <p14:creationId xmlns:p14="http://schemas.microsoft.com/office/powerpoint/2010/main" val="1189588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22820</TotalTime>
  <Words>3364</Words>
  <Application>Microsoft Office PowerPoint</Application>
  <PresentationFormat>Grand écran</PresentationFormat>
  <Paragraphs>380</Paragraphs>
  <Slides>20</Slides>
  <Notes>3</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20</vt:i4>
      </vt:variant>
    </vt:vector>
  </HeadingPairs>
  <TitlesOfParts>
    <vt:vector size="31" baseType="lpstr">
      <vt:lpstr>Arial</vt:lpstr>
      <vt:lpstr>Bebas Neue Bold</vt:lpstr>
      <vt:lpstr>Calibri</vt:lpstr>
      <vt:lpstr>Consolas</vt:lpstr>
      <vt:lpstr>Neutra Text</vt:lpstr>
      <vt:lpstr>Segoe UI</vt:lpstr>
      <vt:lpstr>Symbol</vt:lpstr>
      <vt:lpstr>Wingdings</vt:lpstr>
      <vt:lpstr>Wingdings 3</vt:lpstr>
      <vt:lpstr>Office Theme</vt:lpstr>
      <vt:lpstr>1_Office Theme</vt:lpstr>
      <vt:lpstr>Programmation Web pour la Visualisation</vt:lpstr>
      <vt:lpstr>Présentation PowerPoint</vt:lpstr>
      <vt:lpstr>Présentation PowerPoint</vt:lpstr>
      <vt:lpstr>1. Ce que nous faisons jusqu’à présent</vt:lpstr>
      <vt:lpstr>1. Ce que nous faisons jusqu’à présent</vt:lpstr>
      <vt:lpstr>1. Intérêt de prendre en compte le backend</vt:lpstr>
      <vt:lpstr>1. Technologies Backend</vt:lpstr>
      <vt:lpstr>1. NodeJS</vt:lpstr>
      <vt:lpstr>1. NodeJS par la pratique</vt:lpstr>
      <vt:lpstr>1. NodeJS par la pratique</vt:lpstr>
      <vt:lpstr>1. NodeJS par la pratique</vt:lpstr>
      <vt:lpstr>1. NodeJS par la pratique</vt:lpstr>
      <vt:lpstr>1. NodeJS par la pratique</vt:lpstr>
      <vt:lpstr>1. NodeJS par la pratique</vt:lpstr>
      <vt:lpstr>1. NodeJS par la pratique</vt:lpstr>
      <vt:lpstr>1. NodeJS par la pratique</vt:lpstr>
      <vt:lpstr>1. NodeJS par la pratique</vt:lpstr>
      <vt:lpstr>1. NodeJS par la pratique</vt:lpstr>
      <vt:lpstr>1. NodeJS par la pratique</vt:lpstr>
      <vt:lpstr>1. NodeJS par la pratique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Développement logiciel &amp; Technologies Web</dc:title>
  <dc:creator>Chantal</dc:creator>
  <cp:lastModifiedBy>NIANG Boubou Thiam</cp:lastModifiedBy>
  <cp:revision>1246</cp:revision>
  <cp:lastPrinted>2022-12-13T08:36:25Z</cp:lastPrinted>
  <dcterms:created xsi:type="dcterms:W3CDTF">2014-01-27T15:17:13Z</dcterms:created>
  <dcterms:modified xsi:type="dcterms:W3CDTF">2023-11-27T06:45:31Z</dcterms:modified>
</cp:coreProperties>
</file>